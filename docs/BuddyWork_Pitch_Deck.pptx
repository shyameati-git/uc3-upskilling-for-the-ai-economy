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Lori opens: 'Imagine starting a new job where nobody tells you the rules. Not the work rules — those you can learn. The social rules. The unspoken ones. Which shelf do you scan first? How do you know if you did it right? When is it okay to take a break? For 5.4 million autistic adults in America, this is every single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Lori continues: '85% unemployment or underemployment. Not because autistic people can't do the work — they often excel at it. But because the environment wasn't designed for how their brains process information. They spend triple the energy masking, navigating ambiguity, and performing neurotypicality — energy that should go toward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Vikas takes over: 'BuddyWork is an AI-powered job coach that sits in your pocket. Three capabilities: See — an AR camera that reads the workspace and shows you what needs attention. Hear — a voice coach that reads each instruction aloud so your hands stay free. Do — one clear action per screen, so you never have to guess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Aysu takes over: 'This isn't a regular task app with accessibility settings added later. Every design decision came from autism UX research. One action per screen because split attention drains energy. Shape plus color because 8% of males have color vision deficiency. Voice speed control because processing speed varies person to person. And three support levels — the same app works for someone who just needs a checklist and someone who needs full step-by-step guidance with pictures.'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presenter: 'Let me show you what this looks like. I'm a library worker. I open BuddyWork on my phone, I see today's tasks. I tap Shelf Scan. The app tells me to go to Aisle 5 — I tap I'm Here when I arrive. It tells me to point my camera at shelf 2. I scan. The AR overlay highlights books in green for correct, yellow triangle for wrong. Then it walks me through fixing them — one book at a time, one step at a time. When I'm done, the shelf is correct and I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Vikas: 'Under the hood: React handles the task flow and voice on the frontend. Unity WebGL powers the AR camera overlay. Azure Functions run the sorting engine and APIs. Azure AI Vision reads the spine labels. Azure OpenAI generates adaptive coaching scripts calibrated to each worker's support level. Cosmos DB tracks progress and preferences. The whole thing runs in a phone browser — no app store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Vikas: 'Here's the key insight: BuddyWork isn't a library app. It's a plug-in system. Any employer loads their task sequences once — shelving, stocking, food prep, mail sorting — and the coach adapts. Same framework, any industry. The task builder lets job coaches create new workflows in plain language, and AI generates the step-by-step breakdown.'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Lori closes: '5.4 million autistic adults. $7,000 saved per supported employee per year in reduced turnover. 40% productivity gain when the environment matches the neurology. But the real number is one. One person who keeps a job because the app was patient when people weren't. One person who builds confidence because every task ends with a clear signal that says: you did this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Cynthia: Quick team acknowledgment. Don't read names — let the slide speak. Just say: 'Our team brought together frontend, Unity AR, AI vision, cloud infrastructure, domain expertise, design, and strategy — all in 5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Lori closes with: 'Patience is infinite. Guidance is clear. Every worker belongs. That's BuddyWork.' Pause. Then: 'The demo is live at this URL if you'd like to try it yourself.'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F24"/>
        </a:solidFill>
      </p:bgPr>
    </p:bg>
    <p:spTree>
      <p:nvGrpSpPr>
        <p:cNvPr id="1" name=""/>
        <p:cNvGrpSpPr/>
        <p:nvPr/>
      </p:nvGrpSpPr>
      <p:grpSpPr>
        <a:xfrm>
          <a:off x="0" y="0"/>
          <a:ext cx="0" cy="0"/>
          <a:chOff x="0" y="0"/>
          <a:chExt cx="0" cy="0"/>
        </a:xfrm>
      </p:grpSpPr>
      <p:sp>
        <p:nvSpPr>
          <p:cNvPr id="2" name="Shape 0"/>
          <p:cNvSpPr/>
          <p:nvPr/>
        </p:nvSpPr>
        <p:spPr>
          <a:xfrm>
            <a:off x="731520" y="1280160"/>
            <a:ext cx="1005840" cy="1005840"/>
          </a:xfrm>
          <a:prstGeom prst="roundRect">
            <a:avLst>
              <a:gd name="adj" fmla="val 18182"/>
            </a:avLst>
          </a:prstGeom>
          <a:solidFill>
            <a:srgbClr val="4D9484"/>
          </a:solidFill>
          <a:ln/>
        </p:spPr>
      </p:sp>
      <p:sp>
        <p:nvSpPr>
          <p:cNvPr id="3" name="Text 1"/>
          <p:cNvSpPr/>
          <p:nvPr/>
        </p:nvSpPr>
        <p:spPr>
          <a:xfrm>
            <a:off x="731520" y="1280160"/>
            <a:ext cx="1005840" cy="100584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B</a:t>
            </a:r>
            <a:endParaRPr lang="en-US" sz="4800" dirty="0"/>
          </a:p>
        </p:txBody>
      </p:sp>
      <p:sp>
        <p:nvSpPr>
          <p:cNvPr id="4" name="Text 2"/>
          <p:cNvSpPr/>
          <p:nvPr/>
        </p:nvSpPr>
        <p:spPr>
          <a:xfrm>
            <a:off x="2011680" y="1097280"/>
            <a:ext cx="6400800" cy="73152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BuddyWork</a:t>
            </a:r>
            <a:endParaRPr lang="en-US" sz="4400" dirty="0"/>
          </a:p>
        </p:txBody>
      </p:sp>
      <p:sp>
        <p:nvSpPr>
          <p:cNvPr id="5" name="Text 3"/>
          <p:cNvSpPr/>
          <p:nvPr/>
        </p:nvSpPr>
        <p:spPr>
          <a:xfrm>
            <a:off x="2011680" y="1828800"/>
            <a:ext cx="6400800" cy="457200"/>
          </a:xfrm>
          <a:prstGeom prst="rect">
            <a:avLst/>
          </a:prstGeom>
          <a:noFill/>
          <a:ln/>
        </p:spPr>
        <p:txBody>
          <a:bodyPr wrap="square" lIns="0" tIns="0" rIns="0" bIns="0" rtlCol="0" anchor="ctr"/>
          <a:lstStyle/>
          <a:p>
            <a:pPr indent="0" marL="0">
              <a:buNone/>
            </a:pPr>
            <a:r>
              <a:rPr lang="en-US" sz="2000" dirty="0">
                <a:solidFill>
                  <a:srgbClr val="E4F0EC"/>
                </a:solidFill>
                <a:latin typeface="Calibri" pitchFamily="34" charset="0"/>
                <a:ea typeface="Calibri" pitchFamily="34" charset="-122"/>
                <a:cs typeface="Calibri" pitchFamily="34" charset="-120"/>
              </a:rPr>
              <a:t>AI Job Coach for Neurodivergent Workers</a:t>
            </a:r>
            <a:endParaRPr lang="en-US" sz="2000" dirty="0"/>
          </a:p>
        </p:txBody>
      </p:sp>
      <p:sp>
        <p:nvSpPr>
          <p:cNvPr id="6" name="Text 4"/>
          <p:cNvSpPr/>
          <p:nvPr/>
        </p:nvSpPr>
        <p:spPr>
          <a:xfrm>
            <a:off x="2011680" y="2560320"/>
            <a:ext cx="6400800" cy="365760"/>
          </a:xfrm>
          <a:prstGeom prst="rect">
            <a:avLst/>
          </a:prstGeom>
          <a:noFill/>
          <a:ln/>
        </p:spPr>
        <p:txBody>
          <a:bodyPr wrap="square" lIns="0" tIns="0" rIns="0" bIns="0" rtlCol="0" anchor="ctr"/>
          <a:lstStyle/>
          <a:p>
            <a:pPr indent="0" marL="0">
              <a:buNone/>
            </a:pPr>
            <a:r>
              <a:rPr lang="en-US" sz="1600" i="1" dirty="0">
                <a:solidFill>
                  <a:srgbClr val="5F7A6F"/>
                </a:solidFill>
                <a:latin typeface="Calibri" pitchFamily="34" charset="0"/>
                <a:ea typeface="Calibri" pitchFamily="34" charset="-122"/>
                <a:cs typeface="Calibri" pitchFamily="34" charset="-120"/>
              </a:rPr>
              <a:t>Every task, step by step. No guessing.</a:t>
            </a:r>
            <a:endParaRPr lang="en-US" sz="1600" dirty="0"/>
          </a:p>
        </p:txBody>
      </p:sp>
      <p:sp>
        <p:nvSpPr>
          <p:cNvPr id="7" name="Text 5"/>
          <p:cNvSpPr/>
          <p:nvPr/>
        </p:nvSpPr>
        <p:spPr>
          <a:xfrm>
            <a:off x="457200" y="4389120"/>
            <a:ext cx="8229600" cy="365760"/>
          </a:xfrm>
          <a:prstGeom prst="rect">
            <a:avLst/>
          </a:prstGeom>
          <a:noFill/>
          <a:ln/>
        </p:spPr>
        <p:txBody>
          <a:bodyPr wrap="square" lIns="0" tIns="0" rIns="0" bIns="0" rtlCol="0" anchor="ctr"/>
          <a:lstStyle/>
          <a:p>
            <a:pPr indent="0" marL="0">
              <a:buNone/>
            </a:pPr>
            <a:r>
              <a:rPr lang="en-US" sz="1200" dirty="0">
                <a:solidFill>
                  <a:srgbClr val="5F7A6F"/>
                </a:solidFill>
                <a:latin typeface="Calibri" pitchFamily="34" charset="0"/>
                <a:ea typeface="Calibri" pitchFamily="34" charset="-122"/>
                <a:cs typeface="Calibri" pitchFamily="34" charset="-120"/>
              </a:rPr>
              <a:t>AI Economy Workforce Upskilling Hackathon  |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3600" b="1" dirty="0">
                <a:solidFill>
                  <a:srgbClr val="2C3530"/>
                </a:solidFill>
                <a:latin typeface="Georgia" pitchFamily="34" charset="0"/>
                <a:ea typeface="Georgia" pitchFamily="34" charset="-122"/>
                <a:cs typeface="Georgia" pitchFamily="34" charset="-120"/>
              </a:rPr>
              <a:t>The Problem</a:t>
            </a:r>
            <a:endParaRPr lang="en-US" sz="3600" dirty="0"/>
          </a:p>
        </p:txBody>
      </p:sp>
      <p:sp>
        <p:nvSpPr>
          <p:cNvPr id="3" name="Text 1"/>
          <p:cNvSpPr/>
          <p:nvPr/>
        </p:nvSpPr>
        <p:spPr>
          <a:xfrm>
            <a:off x="548640" y="1005840"/>
            <a:ext cx="7315200" cy="457200"/>
          </a:xfrm>
          <a:prstGeom prst="rect">
            <a:avLst/>
          </a:prstGeom>
          <a:noFill/>
          <a:ln/>
        </p:spPr>
        <p:txBody>
          <a:bodyPr wrap="square" lIns="0" tIns="0" rIns="0" bIns="0" rtlCol="0" anchor="ctr"/>
          <a:lstStyle/>
          <a:p>
            <a:pPr indent="0" marL="0">
              <a:buNone/>
            </a:pPr>
            <a:r>
              <a:rPr lang="en-US" sz="1400" dirty="0">
                <a:solidFill>
                  <a:srgbClr val="5F7A6F"/>
                </a:solidFill>
                <a:latin typeface="Calibri" pitchFamily="34" charset="0"/>
                <a:ea typeface="Calibri" pitchFamily="34" charset="-122"/>
                <a:cs typeface="Calibri" pitchFamily="34" charset="-120"/>
              </a:rPr>
              <a:t>Autistic adults face a massive employment gap, not because of ability, but because of environment.</a:t>
            </a:r>
            <a:endParaRPr lang="en-US" sz="1400" dirty="0"/>
          </a:p>
        </p:txBody>
      </p:sp>
      <p:sp>
        <p:nvSpPr>
          <p:cNvPr id="4" name="Shape 2"/>
          <p:cNvSpPr/>
          <p:nvPr/>
        </p:nvSpPr>
        <p:spPr>
          <a:xfrm>
            <a:off x="548640" y="1828800"/>
            <a:ext cx="2468880" cy="1645920"/>
          </a:xfrm>
          <a:prstGeom prst="rect">
            <a:avLst/>
          </a:prstGeom>
          <a:solidFill>
            <a:srgbClr val="E4F0EC"/>
          </a:solidFill>
          <a:ln/>
          <a:effectLst>
            <a:outerShdw sx="100000" sy="100000" kx="0" ky="0" algn="bl" rotWithShape="0" blurRad="101600" dist="38100" dir="8100000">
              <a:srgbClr val="000000">
                <a:alpha val="12000"/>
              </a:srgbClr>
            </a:outerShdw>
          </a:effectLst>
        </p:spPr>
      </p:sp>
      <p:sp>
        <p:nvSpPr>
          <p:cNvPr id="5" name="Text 3"/>
          <p:cNvSpPr/>
          <p:nvPr/>
        </p:nvSpPr>
        <p:spPr>
          <a:xfrm>
            <a:off x="548640" y="2011680"/>
            <a:ext cx="2468880" cy="640080"/>
          </a:xfrm>
          <a:prstGeom prst="rect">
            <a:avLst/>
          </a:prstGeom>
          <a:noFill/>
          <a:ln/>
        </p:spPr>
        <p:txBody>
          <a:bodyPr wrap="square" lIns="0" tIns="0" rIns="0" bIns="0" rtlCol="0" anchor="ctr"/>
          <a:lstStyle/>
          <a:p>
            <a:pPr algn="ctr" indent="0" marL="0">
              <a:buNone/>
            </a:pPr>
            <a:r>
              <a:rPr lang="en-US" sz="4800" b="1" dirty="0">
                <a:solidFill>
                  <a:srgbClr val="2D5E4B"/>
                </a:solidFill>
                <a:latin typeface="Georgia" pitchFamily="34" charset="0"/>
                <a:ea typeface="Georgia" pitchFamily="34" charset="-122"/>
                <a:cs typeface="Georgia" pitchFamily="34" charset="-120"/>
              </a:rPr>
              <a:t>85%</a:t>
            </a:r>
            <a:endParaRPr lang="en-US" sz="4800" dirty="0"/>
          </a:p>
        </p:txBody>
      </p:sp>
      <p:sp>
        <p:nvSpPr>
          <p:cNvPr id="6" name="Text 4"/>
          <p:cNvSpPr/>
          <p:nvPr/>
        </p:nvSpPr>
        <p:spPr>
          <a:xfrm>
            <a:off x="548640" y="2743200"/>
            <a:ext cx="2468880" cy="640080"/>
          </a:xfrm>
          <a:prstGeom prst="rect">
            <a:avLst/>
          </a:prstGeom>
          <a:noFill/>
          <a:ln/>
        </p:spPr>
        <p:txBody>
          <a:bodyPr wrap="square" lIns="0" tIns="0" rIns="0" bIns="0" rtlCol="0" anchor="ctr"/>
          <a:lstStyle/>
          <a:p>
            <a:pPr algn="ctr" indent="0" marL="0">
              <a:buNone/>
            </a:pPr>
            <a:r>
              <a:rPr lang="en-US" sz="1100" dirty="0">
                <a:solidFill>
                  <a:srgbClr val="5F7A6F"/>
                </a:solidFill>
                <a:latin typeface="Calibri" pitchFamily="34" charset="0"/>
                <a:ea typeface="Calibri" pitchFamily="34" charset="-122"/>
                <a:cs typeface="Calibri" pitchFamily="34" charset="-120"/>
              </a:rPr>
              <a:t>of autistic adults are</a:t>
            </a:r>
            <a:endParaRPr lang="en-US" sz="1100" dirty="0"/>
          </a:p>
          <a:p>
            <a:pPr algn="ctr" indent="0" marL="0">
              <a:buNone/>
            </a:pPr>
            <a:r>
              <a:rPr lang="en-US" sz="1100" dirty="0">
                <a:solidFill>
                  <a:srgbClr val="5F7A6F"/>
                </a:solidFill>
                <a:latin typeface="Calibri" pitchFamily="34" charset="0"/>
                <a:ea typeface="Calibri" pitchFamily="34" charset="-122"/>
                <a:cs typeface="Calibri" pitchFamily="34" charset="-120"/>
              </a:rPr>
              <a:t>unemployed or underemployed</a:t>
            </a:r>
            <a:endParaRPr lang="en-US" sz="1100" dirty="0"/>
          </a:p>
        </p:txBody>
      </p:sp>
      <p:sp>
        <p:nvSpPr>
          <p:cNvPr id="7" name="Shape 5"/>
          <p:cNvSpPr/>
          <p:nvPr/>
        </p:nvSpPr>
        <p:spPr>
          <a:xfrm>
            <a:off x="3337560" y="1828800"/>
            <a:ext cx="2468880" cy="1645920"/>
          </a:xfrm>
          <a:prstGeom prst="rect">
            <a:avLst/>
          </a:prstGeom>
          <a:solidFill>
            <a:srgbClr val="FFF6E5"/>
          </a:solidFill>
          <a:ln/>
          <a:effectLst>
            <a:outerShdw sx="100000" sy="100000" kx="0" ky="0" algn="bl" rotWithShape="0" blurRad="101600" dist="38100" dir="8100000">
              <a:srgbClr val="000000">
                <a:alpha val="12000"/>
              </a:srgbClr>
            </a:outerShdw>
          </a:effectLst>
        </p:spPr>
      </p:sp>
      <p:sp>
        <p:nvSpPr>
          <p:cNvPr id="8" name="Text 6"/>
          <p:cNvSpPr/>
          <p:nvPr/>
        </p:nvSpPr>
        <p:spPr>
          <a:xfrm>
            <a:off x="3337560" y="2011680"/>
            <a:ext cx="2468880" cy="640080"/>
          </a:xfrm>
          <a:prstGeom prst="rect">
            <a:avLst/>
          </a:prstGeom>
          <a:noFill/>
          <a:ln/>
        </p:spPr>
        <p:txBody>
          <a:bodyPr wrap="square" lIns="0" tIns="0" rIns="0" bIns="0" rtlCol="0" anchor="ctr"/>
          <a:lstStyle/>
          <a:p>
            <a:pPr algn="ctr" indent="0" marL="0">
              <a:buNone/>
            </a:pPr>
            <a:r>
              <a:rPr lang="en-US" sz="4800" b="1" dirty="0">
                <a:solidFill>
                  <a:srgbClr val="CC8B1F"/>
                </a:solidFill>
                <a:latin typeface="Georgia" pitchFamily="34" charset="0"/>
                <a:ea typeface="Georgia" pitchFamily="34" charset="-122"/>
                <a:cs typeface="Georgia" pitchFamily="34" charset="-120"/>
              </a:rPr>
              <a:t>#1</a:t>
            </a:r>
            <a:endParaRPr lang="en-US" sz="4800" dirty="0"/>
          </a:p>
        </p:txBody>
      </p:sp>
      <p:sp>
        <p:nvSpPr>
          <p:cNvPr id="9" name="Text 7"/>
          <p:cNvSpPr/>
          <p:nvPr/>
        </p:nvSpPr>
        <p:spPr>
          <a:xfrm>
            <a:off x="3337560" y="2743200"/>
            <a:ext cx="2468880" cy="640080"/>
          </a:xfrm>
          <a:prstGeom prst="rect">
            <a:avLst/>
          </a:prstGeom>
          <a:noFill/>
          <a:ln/>
        </p:spPr>
        <p:txBody>
          <a:bodyPr wrap="square" lIns="0" tIns="0" rIns="0" bIns="0" rtlCol="0" anchor="ctr"/>
          <a:lstStyle/>
          <a:p>
            <a:pPr algn="ctr" indent="0" marL="0">
              <a:buNone/>
            </a:pPr>
            <a:r>
              <a:rPr lang="en-US" sz="1100" dirty="0">
                <a:solidFill>
                  <a:srgbClr val="5F7A6F"/>
                </a:solidFill>
                <a:latin typeface="Calibri" pitchFamily="34" charset="0"/>
                <a:ea typeface="Calibri" pitchFamily="34" charset="-122"/>
                <a:cs typeface="Calibri" pitchFamily="34" charset="-120"/>
              </a:rPr>
              <a:t>barrier is workplace</a:t>
            </a:r>
            <a:endParaRPr lang="en-US" sz="1100" dirty="0"/>
          </a:p>
          <a:p>
            <a:pPr algn="ctr" indent="0" marL="0">
              <a:buNone/>
            </a:pPr>
            <a:r>
              <a:rPr lang="en-US" sz="1100" dirty="0">
                <a:solidFill>
                  <a:srgbClr val="5F7A6F"/>
                </a:solidFill>
                <a:latin typeface="Calibri" pitchFamily="34" charset="0"/>
                <a:ea typeface="Calibri" pitchFamily="34" charset="-122"/>
                <a:cs typeface="Calibri" pitchFamily="34" charset="-120"/>
              </a:rPr>
              <a:t>environment, not capability</a:t>
            </a:r>
            <a:endParaRPr lang="en-US" sz="1100" dirty="0"/>
          </a:p>
        </p:txBody>
      </p:sp>
      <p:sp>
        <p:nvSpPr>
          <p:cNvPr id="10" name="Shape 8"/>
          <p:cNvSpPr/>
          <p:nvPr/>
        </p:nvSpPr>
        <p:spPr>
          <a:xfrm>
            <a:off x="6126480" y="1828800"/>
            <a:ext cx="2468880" cy="1645920"/>
          </a:xfrm>
          <a:prstGeom prst="rect">
            <a:avLst/>
          </a:prstGeom>
          <a:solidFill>
            <a:srgbClr val="E4F0EC"/>
          </a:solidFill>
          <a:ln/>
          <a:effectLst>
            <a:outerShdw sx="100000" sy="100000" kx="0" ky="0" algn="bl" rotWithShape="0" blurRad="101600" dist="38100" dir="8100000">
              <a:srgbClr val="000000">
                <a:alpha val="12000"/>
              </a:srgbClr>
            </a:outerShdw>
          </a:effectLst>
        </p:spPr>
      </p:sp>
      <p:sp>
        <p:nvSpPr>
          <p:cNvPr id="11" name="Text 9"/>
          <p:cNvSpPr/>
          <p:nvPr/>
        </p:nvSpPr>
        <p:spPr>
          <a:xfrm>
            <a:off x="6126480" y="2011680"/>
            <a:ext cx="2468880" cy="640080"/>
          </a:xfrm>
          <a:prstGeom prst="rect">
            <a:avLst/>
          </a:prstGeom>
          <a:noFill/>
          <a:ln/>
        </p:spPr>
        <p:txBody>
          <a:bodyPr wrap="square" lIns="0" tIns="0" rIns="0" bIns="0" rtlCol="0" anchor="ctr"/>
          <a:lstStyle/>
          <a:p>
            <a:pPr algn="ctr" indent="0" marL="0">
              <a:buNone/>
            </a:pPr>
            <a:r>
              <a:rPr lang="en-US" sz="4800" b="1" dirty="0">
                <a:solidFill>
                  <a:srgbClr val="2D5E4B"/>
                </a:solidFill>
                <a:latin typeface="Georgia" pitchFamily="34" charset="0"/>
                <a:ea typeface="Georgia" pitchFamily="34" charset="-122"/>
                <a:cs typeface="Georgia" pitchFamily="34" charset="-120"/>
              </a:rPr>
              <a:t>3x</a:t>
            </a:r>
            <a:endParaRPr lang="en-US" sz="4800" dirty="0"/>
          </a:p>
        </p:txBody>
      </p:sp>
      <p:sp>
        <p:nvSpPr>
          <p:cNvPr id="12" name="Text 10"/>
          <p:cNvSpPr/>
          <p:nvPr/>
        </p:nvSpPr>
        <p:spPr>
          <a:xfrm>
            <a:off x="6126480" y="2743200"/>
            <a:ext cx="2468880" cy="640080"/>
          </a:xfrm>
          <a:prstGeom prst="rect">
            <a:avLst/>
          </a:prstGeom>
          <a:noFill/>
          <a:ln/>
        </p:spPr>
        <p:txBody>
          <a:bodyPr wrap="square" lIns="0" tIns="0" rIns="0" bIns="0" rtlCol="0" anchor="ctr"/>
          <a:lstStyle/>
          <a:p>
            <a:pPr algn="ctr" indent="0" marL="0">
              <a:buNone/>
            </a:pPr>
            <a:r>
              <a:rPr lang="en-US" sz="1100" dirty="0">
                <a:solidFill>
                  <a:srgbClr val="5F7A6F"/>
                </a:solidFill>
                <a:latin typeface="Calibri" pitchFamily="34" charset="0"/>
                <a:ea typeface="Calibri" pitchFamily="34" charset="-122"/>
                <a:cs typeface="Calibri" pitchFamily="34" charset="-120"/>
              </a:rPr>
              <a:t>more energy spent on</a:t>
            </a:r>
            <a:endParaRPr lang="en-US" sz="1100" dirty="0"/>
          </a:p>
          <a:p>
            <a:pPr algn="ctr" indent="0" marL="0">
              <a:buNone/>
            </a:pPr>
            <a:r>
              <a:rPr lang="en-US" sz="1100" dirty="0">
                <a:solidFill>
                  <a:srgbClr val="5F7A6F"/>
                </a:solidFill>
                <a:latin typeface="Calibri" pitchFamily="34" charset="0"/>
                <a:ea typeface="Calibri" pitchFamily="34" charset="-122"/>
                <a:cs typeface="Calibri" pitchFamily="34" charset="-120"/>
              </a:rPr>
              <a:t>masking than on actual work</a:t>
            </a:r>
            <a:endParaRPr lang="en-US" sz="1100" dirty="0"/>
          </a:p>
        </p:txBody>
      </p:sp>
      <p:sp>
        <p:nvSpPr>
          <p:cNvPr id="13" name="Text 11"/>
          <p:cNvSpPr/>
          <p:nvPr/>
        </p:nvSpPr>
        <p:spPr>
          <a:xfrm>
            <a:off x="548640" y="4023360"/>
            <a:ext cx="8229600" cy="365760"/>
          </a:xfrm>
          <a:prstGeom prst="rect">
            <a:avLst/>
          </a:prstGeom>
          <a:noFill/>
          <a:ln/>
        </p:spPr>
        <p:txBody>
          <a:bodyPr wrap="square" lIns="0" tIns="0" rIns="0" bIns="0" rtlCol="0" anchor="ctr"/>
          <a:lstStyle/>
          <a:p>
            <a:pPr indent="0" marL="0">
              <a:buNone/>
            </a:pPr>
            <a:r>
              <a:rPr lang="en-US" sz="1600" b="1" i="1" dirty="0">
                <a:solidFill>
                  <a:srgbClr val="2D5E4B"/>
                </a:solidFill>
                <a:latin typeface="Georgia" pitchFamily="34" charset="0"/>
                <a:ea typeface="Georgia" pitchFamily="34" charset="-122"/>
                <a:cs typeface="Georgia" pitchFamily="34" charset="-120"/>
              </a:rPr>
              <a:t>The gap isn't skill. It's support.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F24"/>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BuddyWork</a:t>
            </a:r>
            <a:endParaRPr lang="en-US" sz="3600" dirty="0"/>
          </a:p>
        </p:txBody>
      </p:sp>
      <p:sp>
        <p:nvSpPr>
          <p:cNvPr id="3" name="Text 1"/>
          <p:cNvSpPr/>
          <p:nvPr/>
        </p:nvSpPr>
        <p:spPr>
          <a:xfrm>
            <a:off x="548640" y="1005840"/>
            <a:ext cx="7315200" cy="365760"/>
          </a:xfrm>
          <a:prstGeom prst="rect">
            <a:avLst/>
          </a:prstGeom>
          <a:noFill/>
          <a:ln/>
        </p:spPr>
        <p:txBody>
          <a:bodyPr wrap="square" lIns="0" tIns="0" rIns="0" bIns="0" rtlCol="0" anchor="ctr"/>
          <a:lstStyle/>
          <a:p>
            <a:pPr indent="0" marL="0">
              <a:buNone/>
            </a:pPr>
            <a:r>
              <a:rPr lang="en-US" sz="1600" dirty="0">
                <a:solidFill>
                  <a:srgbClr val="E4F0EC"/>
                </a:solidFill>
                <a:latin typeface="Calibri" pitchFamily="34" charset="0"/>
                <a:ea typeface="Calibri" pitchFamily="34" charset="-122"/>
                <a:cs typeface="Calibri" pitchFamily="34" charset="-120"/>
              </a:rPr>
              <a:t>An AI-powered job coach that guides any worker through any task, step by step.</a:t>
            </a:r>
            <a:endParaRPr lang="en-US" sz="1600" dirty="0"/>
          </a:p>
        </p:txBody>
      </p:sp>
      <p:sp>
        <p:nvSpPr>
          <p:cNvPr id="4" name="Shape 2"/>
          <p:cNvSpPr/>
          <p:nvPr/>
        </p:nvSpPr>
        <p:spPr>
          <a:xfrm>
            <a:off x="548640" y="1828800"/>
            <a:ext cx="2468880" cy="2560320"/>
          </a:xfrm>
          <a:prstGeom prst="rect">
            <a:avLst/>
          </a:prstGeom>
          <a:solidFill>
            <a:srgbClr val="2D5E4B"/>
          </a:solidFill>
          <a:ln/>
        </p:spPr>
      </p:sp>
      <p:pic>
        <p:nvPicPr>
          <p:cNvPr id="5" name="Image 0" descr="preencoded.png">    </p:cNvPr>
          <p:cNvPicPr>
            <a:picLocks noChangeAspect="1"/>
          </p:cNvPicPr>
          <p:nvPr/>
        </p:nvPicPr>
        <p:blipFill>
          <a:blip r:embed="rId1"/>
          <a:stretch>
            <a:fillRect/>
          </a:stretch>
        </p:blipFill>
        <p:spPr>
          <a:xfrm>
            <a:off x="1417320" y="2103120"/>
            <a:ext cx="457200" cy="457200"/>
          </a:xfrm>
          <a:prstGeom prst="rect">
            <a:avLst/>
          </a:prstGeom>
        </p:spPr>
      </p:pic>
      <p:sp>
        <p:nvSpPr>
          <p:cNvPr id="6" name="Text 3"/>
          <p:cNvSpPr/>
          <p:nvPr/>
        </p:nvSpPr>
        <p:spPr>
          <a:xfrm>
            <a:off x="548640" y="2743200"/>
            <a:ext cx="246888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See</a:t>
            </a:r>
            <a:endParaRPr lang="en-US" sz="2200" dirty="0"/>
          </a:p>
        </p:txBody>
      </p:sp>
      <p:sp>
        <p:nvSpPr>
          <p:cNvPr id="7" name="Text 4"/>
          <p:cNvSpPr/>
          <p:nvPr/>
        </p:nvSpPr>
        <p:spPr>
          <a:xfrm>
            <a:off x="731520" y="3200400"/>
            <a:ext cx="2103120" cy="914400"/>
          </a:xfrm>
          <a:prstGeom prst="rect">
            <a:avLst/>
          </a:prstGeom>
          <a:noFill/>
          <a:ln/>
        </p:spPr>
        <p:txBody>
          <a:bodyPr wrap="square" lIns="0" tIns="0" rIns="0" bIns="0" rtlCol="0" anchor="ctr"/>
          <a:lstStyle/>
          <a:p>
            <a:pPr algn="ctr" indent="0" marL="0">
              <a:buNone/>
            </a:pPr>
            <a:r>
              <a:rPr lang="en-US" sz="1200" dirty="0">
                <a:solidFill>
                  <a:srgbClr val="E4F0EC"/>
                </a:solidFill>
                <a:latin typeface="Calibri" pitchFamily="34" charset="0"/>
                <a:ea typeface="Calibri" pitchFamily="34" charset="-122"/>
                <a:cs typeface="Calibri" pitchFamily="34" charset="-120"/>
              </a:rPr>
              <a:t>AR camera overlay reads</a:t>
            </a:r>
            <a:endParaRPr lang="en-US" sz="1200" dirty="0"/>
          </a:p>
          <a:p>
            <a:pPr algn="ctr" indent="0" marL="0">
              <a:buNone/>
            </a:pPr>
            <a:r>
              <a:rPr lang="en-US" sz="1200" dirty="0">
                <a:solidFill>
                  <a:srgbClr val="E4F0EC"/>
                </a:solidFill>
                <a:latin typeface="Calibri" pitchFamily="34" charset="0"/>
                <a:ea typeface="Calibri" pitchFamily="34" charset="-122"/>
                <a:cs typeface="Calibri" pitchFamily="34" charset="-120"/>
              </a:rPr>
              <a:t>shelf labels and highlights</a:t>
            </a:r>
            <a:endParaRPr lang="en-US" sz="1200" dirty="0"/>
          </a:p>
          <a:p>
            <a:pPr algn="ctr" indent="0" marL="0">
              <a:buNone/>
            </a:pPr>
            <a:r>
              <a:rPr lang="en-US" sz="1200" dirty="0">
                <a:solidFill>
                  <a:srgbClr val="E4F0EC"/>
                </a:solidFill>
                <a:latin typeface="Calibri" pitchFamily="34" charset="0"/>
                <a:ea typeface="Calibri" pitchFamily="34" charset="-122"/>
                <a:cs typeface="Calibri" pitchFamily="34" charset="-120"/>
              </a:rPr>
              <a:t>what's wrong</a:t>
            </a:r>
            <a:endParaRPr lang="en-US" sz="1200" dirty="0"/>
          </a:p>
        </p:txBody>
      </p:sp>
      <p:sp>
        <p:nvSpPr>
          <p:cNvPr id="8" name="Shape 5"/>
          <p:cNvSpPr/>
          <p:nvPr/>
        </p:nvSpPr>
        <p:spPr>
          <a:xfrm>
            <a:off x="3337560" y="1828800"/>
            <a:ext cx="2468880" cy="2560320"/>
          </a:xfrm>
          <a:prstGeom prst="rect">
            <a:avLst/>
          </a:prstGeom>
          <a:solidFill>
            <a:srgbClr val="2D5E4B"/>
          </a:solidFill>
          <a:ln/>
        </p:spPr>
      </p:sp>
      <p:pic>
        <p:nvPicPr>
          <p:cNvPr id="9" name="Image 1" descr="preencoded.png">    </p:cNvPr>
          <p:cNvPicPr>
            <a:picLocks noChangeAspect="1"/>
          </p:cNvPicPr>
          <p:nvPr/>
        </p:nvPicPr>
        <p:blipFill>
          <a:blip r:embed="rId2"/>
          <a:stretch>
            <a:fillRect/>
          </a:stretch>
        </p:blipFill>
        <p:spPr>
          <a:xfrm>
            <a:off x="4206240" y="2103120"/>
            <a:ext cx="457200" cy="457200"/>
          </a:xfrm>
          <a:prstGeom prst="rect">
            <a:avLst/>
          </a:prstGeom>
        </p:spPr>
      </p:pic>
      <p:sp>
        <p:nvSpPr>
          <p:cNvPr id="10" name="Text 6"/>
          <p:cNvSpPr/>
          <p:nvPr/>
        </p:nvSpPr>
        <p:spPr>
          <a:xfrm>
            <a:off x="3337560" y="2743200"/>
            <a:ext cx="246888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Hear</a:t>
            </a:r>
            <a:endParaRPr lang="en-US" sz="2200" dirty="0"/>
          </a:p>
        </p:txBody>
      </p:sp>
      <p:sp>
        <p:nvSpPr>
          <p:cNvPr id="11" name="Text 7"/>
          <p:cNvSpPr/>
          <p:nvPr/>
        </p:nvSpPr>
        <p:spPr>
          <a:xfrm>
            <a:off x="3520440" y="3200400"/>
            <a:ext cx="2103120" cy="914400"/>
          </a:xfrm>
          <a:prstGeom prst="rect">
            <a:avLst/>
          </a:prstGeom>
          <a:noFill/>
          <a:ln/>
        </p:spPr>
        <p:txBody>
          <a:bodyPr wrap="square" lIns="0" tIns="0" rIns="0" bIns="0" rtlCol="0" anchor="ctr"/>
          <a:lstStyle/>
          <a:p>
            <a:pPr algn="ctr" indent="0" marL="0">
              <a:buNone/>
            </a:pPr>
            <a:r>
              <a:rPr lang="en-US" sz="1200" dirty="0">
                <a:solidFill>
                  <a:srgbClr val="E4F0EC"/>
                </a:solidFill>
                <a:latin typeface="Calibri" pitchFamily="34" charset="0"/>
                <a:ea typeface="Calibri" pitchFamily="34" charset="-122"/>
                <a:cs typeface="Calibri" pitchFamily="34" charset="-120"/>
              </a:rPr>
              <a:t>Voice coach reads each</a:t>
            </a:r>
            <a:endParaRPr lang="en-US" sz="1200" dirty="0"/>
          </a:p>
          <a:p>
            <a:pPr algn="ctr" indent="0" marL="0">
              <a:buNone/>
            </a:pPr>
            <a:r>
              <a:rPr lang="en-US" sz="1200" dirty="0">
                <a:solidFill>
                  <a:srgbClr val="E4F0EC"/>
                </a:solidFill>
                <a:latin typeface="Calibri" pitchFamily="34" charset="0"/>
                <a:ea typeface="Calibri" pitchFamily="34" charset="-122"/>
                <a:cs typeface="Calibri" pitchFamily="34" charset="-120"/>
              </a:rPr>
              <a:t>step aloud at your pace.</a:t>
            </a:r>
            <a:endParaRPr lang="en-US" sz="1200" dirty="0"/>
          </a:p>
          <a:p>
            <a:pPr algn="ctr" indent="0" marL="0">
              <a:buNone/>
            </a:pPr>
            <a:r>
              <a:rPr lang="en-US" sz="1200" dirty="0">
                <a:solidFill>
                  <a:srgbClr val="E4F0EC"/>
                </a:solidFill>
                <a:latin typeface="Calibri" pitchFamily="34" charset="0"/>
                <a:ea typeface="Calibri" pitchFamily="34" charset="-122"/>
                <a:cs typeface="Calibri" pitchFamily="34" charset="-120"/>
              </a:rPr>
              <a:t>Hands free, eyes up.</a:t>
            </a:r>
            <a:endParaRPr lang="en-US" sz="1200" dirty="0"/>
          </a:p>
        </p:txBody>
      </p:sp>
      <p:sp>
        <p:nvSpPr>
          <p:cNvPr id="12" name="Shape 8"/>
          <p:cNvSpPr/>
          <p:nvPr/>
        </p:nvSpPr>
        <p:spPr>
          <a:xfrm>
            <a:off x="6126480" y="1828800"/>
            <a:ext cx="2468880" cy="2560320"/>
          </a:xfrm>
          <a:prstGeom prst="rect">
            <a:avLst/>
          </a:prstGeom>
          <a:solidFill>
            <a:srgbClr val="2D5E4B"/>
          </a:solidFill>
          <a:ln/>
        </p:spPr>
      </p:sp>
      <p:pic>
        <p:nvPicPr>
          <p:cNvPr id="13" name="Image 2" descr="preencoded.png">    </p:cNvPr>
          <p:cNvPicPr>
            <a:picLocks noChangeAspect="1"/>
          </p:cNvPicPr>
          <p:nvPr/>
        </p:nvPicPr>
        <p:blipFill>
          <a:blip r:embed="rId3"/>
          <a:stretch>
            <a:fillRect/>
          </a:stretch>
        </p:blipFill>
        <p:spPr>
          <a:xfrm>
            <a:off x="6995160" y="2103120"/>
            <a:ext cx="457200" cy="457200"/>
          </a:xfrm>
          <a:prstGeom prst="rect">
            <a:avLst/>
          </a:prstGeom>
        </p:spPr>
      </p:pic>
      <p:sp>
        <p:nvSpPr>
          <p:cNvPr id="14" name="Text 9"/>
          <p:cNvSpPr/>
          <p:nvPr/>
        </p:nvSpPr>
        <p:spPr>
          <a:xfrm>
            <a:off x="6126480" y="2743200"/>
            <a:ext cx="246888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Do</a:t>
            </a:r>
            <a:endParaRPr lang="en-US" sz="2200" dirty="0"/>
          </a:p>
        </p:txBody>
      </p:sp>
      <p:sp>
        <p:nvSpPr>
          <p:cNvPr id="15" name="Text 10"/>
          <p:cNvSpPr/>
          <p:nvPr/>
        </p:nvSpPr>
        <p:spPr>
          <a:xfrm>
            <a:off x="6309360" y="3200400"/>
            <a:ext cx="2103120" cy="914400"/>
          </a:xfrm>
          <a:prstGeom prst="rect">
            <a:avLst/>
          </a:prstGeom>
          <a:noFill/>
          <a:ln/>
        </p:spPr>
        <p:txBody>
          <a:bodyPr wrap="square" lIns="0" tIns="0" rIns="0" bIns="0" rtlCol="0" anchor="ctr"/>
          <a:lstStyle/>
          <a:p>
            <a:pPr algn="ctr" indent="0" marL="0">
              <a:buNone/>
            </a:pPr>
            <a:r>
              <a:rPr lang="en-US" sz="1200" dirty="0">
                <a:solidFill>
                  <a:srgbClr val="E4F0EC"/>
                </a:solidFill>
                <a:latin typeface="Calibri" pitchFamily="34" charset="0"/>
                <a:ea typeface="Calibri" pitchFamily="34" charset="-122"/>
                <a:cs typeface="Calibri" pitchFamily="34" charset="-120"/>
              </a:rPr>
              <a:t>One action per screen.</a:t>
            </a:r>
            <a:endParaRPr lang="en-US" sz="1200" dirty="0"/>
          </a:p>
          <a:p>
            <a:pPr algn="ctr" indent="0" marL="0">
              <a:buNone/>
            </a:pPr>
            <a:r>
              <a:rPr lang="en-US" sz="1200" dirty="0">
                <a:solidFill>
                  <a:srgbClr val="E4F0EC"/>
                </a:solidFill>
                <a:latin typeface="Calibri" pitchFamily="34" charset="0"/>
                <a:ea typeface="Calibri" pitchFamily="34" charset="-122"/>
                <a:cs typeface="Calibri" pitchFamily="34" charset="-120"/>
              </a:rPr>
              <a:t>No ambiguity. No guessing.</a:t>
            </a:r>
            <a:endParaRPr lang="en-US" sz="1200" dirty="0"/>
          </a:p>
          <a:p>
            <a:pPr algn="ctr" indent="0" marL="0">
              <a:buNone/>
            </a:pPr>
            <a:r>
              <a:rPr lang="en-US" sz="1200" dirty="0">
                <a:solidFill>
                  <a:srgbClr val="E4F0EC"/>
                </a:solidFill>
                <a:latin typeface="Calibri" pitchFamily="34" charset="0"/>
                <a:ea typeface="Calibri" pitchFamily="34" charset="-122"/>
                <a:cs typeface="Calibri" pitchFamily="34" charset="-120"/>
              </a:rPr>
              <a:t>Just the next step.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3200" b="1" dirty="0">
                <a:solidFill>
                  <a:srgbClr val="2C3530"/>
                </a:solidFill>
                <a:latin typeface="Georgia" pitchFamily="34" charset="0"/>
                <a:ea typeface="Georgia" pitchFamily="34" charset="-122"/>
                <a:cs typeface="Georgia" pitchFamily="34" charset="-120"/>
              </a:rPr>
              <a:t>Designed for How Autism Works</a:t>
            </a:r>
            <a:endParaRPr lang="en-US" sz="3200" dirty="0"/>
          </a:p>
        </p:txBody>
      </p:sp>
      <p:sp>
        <p:nvSpPr>
          <p:cNvPr id="3" name="Text 1"/>
          <p:cNvSpPr/>
          <p:nvPr/>
        </p:nvSpPr>
        <p:spPr>
          <a:xfrm>
            <a:off x="548640" y="914400"/>
            <a:ext cx="7315200" cy="365760"/>
          </a:xfrm>
          <a:prstGeom prst="rect">
            <a:avLst/>
          </a:prstGeom>
          <a:noFill/>
          <a:ln/>
        </p:spPr>
        <p:txBody>
          <a:bodyPr wrap="square" lIns="0" tIns="0" rIns="0" bIns="0" rtlCol="0" anchor="ctr"/>
          <a:lstStyle/>
          <a:p>
            <a:pPr indent="0" marL="0">
              <a:buNone/>
            </a:pPr>
            <a:r>
              <a:rPr lang="en-US" sz="1400" dirty="0">
                <a:solidFill>
                  <a:srgbClr val="5F7A6F"/>
                </a:solidFill>
                <a:latin typeface="Calibri" pitchFamily="34" charset="0"/>
                <a:ea typeface="Calibri" pitchFamily="34" charset="-122"/>
                <a:cs typeface="Calibri" pitchFamily="34" charset="-120"/>
              </a:rPr>
              <a:t>Not a generic task app with accessibility bolted on. Built from autism UX research.</a:t>
            </a:r>
            <a:endParaRPr lang="en-US" sz="1400" dirty="0"/>
          </a:p>
        </p:txBody>
      </p:sp>
      <p:sp>
        <p:nvSpPr>
          <p:cNvPr id="4" name="Shape 2"/>
          <p:cNvSpPr/>
          <p:nvPr/>
        </p:nvSpPr>
        <p:spPr>
          <a:xfrm>
            <a:off x="548640" y="1554480"/>
            <a:ext cx="2560320" cy="1280160"/>
          </a:xfrm>
          <a:prstGeom prst="rect">
            <a:avLst/>
          </a:prstGeom>
          <a:solidFill>
            <a:srgbClr val="E4F0EC"/>
          </a:solidFill>
          <a:ln/>
        </p:spPr>
      </p:sp>
      <p:pic>
        <p:nvPicPr>
          <p:cNvPr id="5" name="Image 0" descr="preencoded.png">    </p:cNvPr>
          <p:cNvPicPr>
            <a:picLocks noChangeAspect="1"/>
          </p:cNvPicPr>
          <p:nvPr/>
        </p:nvPicPr>
        <p:blipFill>
          <a:blip r:embed="rId1"/>
          <a:stretch>
            <a:fillRect/>
          </a:stretch>
        </p:blipFill>
        <p:spPr>
          <a:xfrm>
            <a:off x="731520" y="1783080"/>
            <a:ext cx="320040" cy="320040"/>
          </a:xfrm>
          <a:prstGeom prst="rect">
            <a:avLst/>
          </a:prstGeom>
        </p:spPr>
      </p:pic>
      <p:sp>
        <p:nvSpPr>
          <p:cNvPr id="6" name="Text 3"/>
          <p:cNvSpPr/>
          <p:nvPr/>
        </p:nvSpPr>
        <p:spPr>
          <a:xfrm>
            <a:off x="1188720" y="1691640"/>
            <a:ext cx="1737360" cy="320040"/>
          </a:xfrm>
          <a:prstGeom prst="rect">
            <a:avLst/>
          </a:prstGeom>
          <a:noFill/>
          <a:ln/>
        </p:spPr>
        <p:txBody>
          <a:bodyPr wrap="square" lIns="0" tIns="0" rIns="0" bIns="0" rtlCol="0" anchor="ctr"/>
          <a:lstStyle/>
          <a:p>
            <a:pPr indent="0" marL="0">
              <a:buNone/>
            </a:pPr>
            <a:r>
              <a:rPr lang="en-US" sz="1300" b="1" dirty="0">
                <a:solidFill>
                  <a:srgbClr val="2C3530"/>
                </a:solidFill>
                <a:latin typeface="Georgia" pitchFamily="34" charset="0"/>
                <a:ea typeface="Georgia" pitchFamily="34" charset="-122"/>
                <a:cs typeface="Georgia" pitchFamily="34" charset="-120"/>
              </a:rPr>
              <a:t>One action per screen</a:t>
            </a:r>
            <a:endParaRPr lang="en-US" sz="1300" dirty="0"/>
          </a:p>
        </p:txBody>
      </p:sp>
      <p:sp>
        <p:nvSpPr>
          <p:cNvPr id="7" name="Text 4"/>
          <p:cNvSpPr/>
          <p:nvPr/>
        </p:nvSpPr>
        <p:spPr>
          <a:xfrm>
            <a:off x="1188720" y="2057400"/>
            <a:ext cx="1737360" cy="548640"/>
          </a:xfrm>
          <a:prstGeom prst="rect">
            <a:avLst/>
          </a:prstGeom>
          <a:noFill/>
          <a:ln/>
        </p:spPr>
        <p:txBody>
          <a:bodyPr wrap="square" lIns="0" tIns="0" rIns="0" bIns="0" rtlCol="0" anchor="ctr"/>
          <a:lstStyle/>
          <a:p>
            <a:pPr indent="0" marL="0">
              <a:buNone/>
            </a:pPr>
            <a:r>
              <a:rPr lang="en-US" sz="1100" dirty="0">
                <a:solidFill>
                  <a:srgbClr val="5F7A6F"/>
                </a:solidFill>
                <a:latin typeface="Calibri" pitchFamily="34" charset="0"/>
                <a:ea typeface="Calibri" pitchFamily="34" charset="-122"/>
                <a:cs typeface="Calibri" pitchFamily="34" charset="-120"/>
              </a:rPr>
              <a:t>Never wonder what to do next</a:t>
            </a:r>
            <a:endParaRPr lang="en-US" sz="1100" dirty="0"/>
          </a:p>
        </p:txBody>
      </p:sp>
      <p:sp>
        <p:nvSpPr>
          <p:cNvPr id="8" name="Shape 5"/>
          <p:cNvSpPr/>
          <p:nvPr/>
        </p:nvSpPr>
        <p:spPr>
          <a:xfrm>
            <a:off x="3337560" y="1554480"/>
            <a:ext cx="2560320" cy="1280160"/>
          </a:xfrm>
          <a:prstGeom prst="rect">
            <a:avLst/>
          </a:prstGeom>
          <a:solidFill>
            <a:srgbClr val="E4F0EC"/>
          </a:solidFill>
          <a:ln/>
        </p:spPr>
      </p:sp>
      <p:pic>
        <p:nvPicPr>
          <p:cNvPr id="9" name="Image 1" descr="preencoded.png">    </p:cNvPr>
          <p:cNvPicPr>
            <a:picLocks noChangeAspect="1"/>
          </p:cNvPicPr>
          <p:nvPr/>
        </p:nvPicPr>
        <p:blipFill>
          <a:blip r:embed="rId2"/>
          <a:stretch>
            <a:fillRect/>
          </a:stretch>
        </p:blipFill>
        <p:spPr>
          <a:xfrm>
            <a:off x="3520440" y="1783080"/>
            <a:ext cx="320040" cy="320040"/>
          </a:xfrm>
          <a:prstGeom prst="rect">
            <a:avLst/>
          </a:prstGeom>
        </p:spPr>
      </p:pic>
      <p:sp>
        <p:nvSpPr>
          <p:cNvPr id="10" name="Text 6"/>
          <p:cNvSpPr/>
          <p:nvPr/>
        </p:nvSpPr>
        <p:spPr>
          <a:xfrm>
            <a:off x="3977640" y="1691640"/>
            <a:ext cx="1737360" cy="320040"/>
          </a:xfrm>
          <a:prstGeom prst="rect">
            <a:avLst/>
          </a:prstGeom>
          <a:noFill/>
          <a:ln/>
        </p:spPr>
        <p:txBody>
          <a:bodyPr wrap="square" lIns="0" tIns="0" rIns="0" bIns="0" rtlCol="0" anchor="ctr"/>
          <a:lstStyle/>
          <a:p>
            <a:pPr indent="0" marL="0">
              <a:buNone/>
            </a:pPr>
            <a:r>
              <a:rPr lang="en-US" sz="1300" b="1" dirty="0">
                <a:solidFill>
                  <a:srgbClr val="2C3530"/>
                </a:solidFill>
                <a:latin typeface="Georgia" pitchFamily="34" charset="0"/>
                <a:ea typeface="Georgia" pitchFamily="34" charset="-122"/>
                <a:cs typeface="Georgia" pitchFamily="34" charset="-120"/>
              </a:rPr>
              <a:t>Pictograms over paragraphs</a:t>
            </a:r>
            <a:endParaRPr lang="en-US" sz="1300" dirty="0"/>
          </a:p>
        </p:txBody>
      </p:sp>
      <p:sp>
        <p:nvSpPr>
          <p:cNvPr id="11" name="Text 7"/>
          <p:cNvSpPr/>
          <p:nvPr/>
        </p:nvSpPr>
        <p:spPr>
          <a:xfrm>
            <a:off x="3977640" y="2057400"/>
            <a:ext cx="1737360" cy="548640"/>
          </a:xfrm>
          <a:prstGeom prst="rect">
            <a:avLst/>
          </a:prstGeom>
          <a:noFill/>
          <a:ln/>
        </p:spPr>
        <p:txBody>
          <a:bodyPr wrap="square" lIns="0" tIns="0" rIns="0" bIns="0" rtlCol="0" anchor="ctr"/>
          <a:lstStyle/>
          <a:p>
            <a:pPr indent="0" marL="0">
              <a:buNone/>
            </a:pPr>
            <a:r>
              <a:rPr lang="en-US" sz="1100" dirty="0">
                <a:solidFill>
                  <a:srgbClr val="5F7A6F"/>
                </a:solidFill>
                <a:latin typeface="Calibri" pitchFamily="34" charset="0"/>
                <a:ea typeface="Calibri" pitchFamily="34" charset="-122"/>
                <a:cs typeface="Calibri" pitchFamily="34" charset="-120"/>
              </a:rPr>
              <a:t>Visual signals, not walls of text</a:t>
            </a:r>
            <a:endParaRPr lang="en-US" sz="1100" dirty="0"/>
          </a:p>
        </p:txBody>
      </p:sp>
      <p:sp>
        <p:nvSpPr>
          <p:cNvPr id="12" name="Shape 8"/>
          <p:cNvSpPr/>
          <p:nvPr/>
        </p:nvSpPr>
        <p:spPr>
          <a:xfrm>
            <a:off x="6126480" y="1554480"/>
            <a:ext cx="2560320" cy="1280160"/>
          </a:xfrm>
          <a:prstGeom prst="rect">
            <a:avLst/>
          </a:prstGeom>
          <a:solidFill>
            <a:srgbClr val="E4F0EC"/>
          </a:solidFill>
          <a:ln/>
        </p:spPr>
      </p:sp>
      <p:pic>
        <p:nvPicPr>
          <p:cNvPr id="13" name="Image 2" descr="preencoded.png">    </p:cNvPr>
          <p:cNvPicPr>
            <a:picLocks noChangeAspect="1"/>
          </p:cNvPicPr>
          <p:nvPr/>
        </p:nvPicPr>
        <p:blipFill>
          <a:blip r:embed="rId3"/>
          <a:stretch>
            <a:fillRect/>
          </a:stretch>
        </p:blipFill>
        <p:spPr>
          <a:xfrm>
            <a:off x="6309360" y="1783080"/>
            <a:ext cx="320040" cy="320040"/>
          </a:xfrm>
          <a:prstGeom prst="rect">
            <a:avLst/>
          </a:prstGeom>
        </p:spPr>
      </p:pic>
      <p:sp>
        <p:nvSpPr>
          <p:cNvPr id="14" name="Text 9"/>
          <p:cNvSpPr/>
          <p:nvPr/>
        </p:nvSpPr>
        <p:spPr>
          <a:xfrm>
            <a:off x="6766560" y="1691640"/>
            <a:ext cx="1737360" cy="320040"/>
          </a:xfrm>
          <a:prstGeom prst="rect">
            <a:avLst/>
          </a:prstGeom>
          <a:noFill/>
          <a:ln/>
        </p:spPr>
        <p:txBody>
          <a:bodyPr wrap="square" lIns="0" tIns="0" rIns="0" bIns="0" rtlCol="0" anchor="ctr"/>
          <a:lstStyle/>
          <a:p>
            <a:pPr indent="0" marL="0">
              <a:buNone/>
            </a:pPr>
            <a:r>
              <a:rPr lang="en-US" sz="1300" b="1" dirty="0">
                <a:solidFill>
                  <a:srgbClr val="2C3530"/>
                </a:solidFill>
                <a:latin typeface="Georgia" pitchFamily="34" charset="0"/>
                <a:ea typeface="Georgia" pitchFamily="34" charset="-122"/>
                <a:cs typeface="Georgia" pitchFamily="34" charset="-120"/>
              </a:rPr>
              <a:t>Shape + color, never color alone</a:t>
            </a:r>
            <a:endParaRPr lang="en-US" sz="1300" dirty="0"/>
          </a:p>
        </p:txBody>
      </p:sp>
      <p:sp>
        <p:nvSpPr>
          <p:cNvPr id="15" name="Text 10"/>
          <p:cNvSpPr/>
          <p:nvPr/>
        </p:nvSpPr>
        <p:spPr>
          <a:xfrm>
            <a:off x="6766560" y="2057400"/>
            <a:ext cx="1737360" cy="548640"/>
          </a:xfrm>
          <a:prstGeom prst="rect">
            <a:avLst/>
          </a:prstGeom>
          <a:noFill/>
          <a:ln/>
        </p:spPr>
        <p:txBody>
          <a:bodyPr wrap="square" lIns="0" tIns="0" rIns="0" bIns="0" rtlCol="0" anchor="ctr"/>
          <a:lstStyle/>
          <a:p>
            <a:pPr indent="0" marL="0">
              <a:buNone/>
            </a:pPr>
            <a:r>
              <a:rPr lang="en-US" sz="1100" dirty="0">
                <a:solidFill>
                  <a:srgbClr val="5F7A6F"/>
                </a:solidFill>
                <a:latin typeface="Calibri" pitchFamily="34" charset="0"/>
                <a:ea typeface="Calibri" pitchFamily="34" charset="-122"/>
                <a:cs typeface="Calibri" pitchFamily="34" charset="-120"/>
              </a:rPr>
              <a:t>Circle = correct, triangle = wrong</a:t>
            </a:r>
            <a:endParaRPr lang="en-US" sz="1100" dirty="0"/>
          </a:p>
        </p:txBody>
      </p:sp>
      <p:sp>
        <p:nvSpPr>
          <p:cNvPr id="16" name="Shape 11"/>
          <p:cNvSpPr/>
          <p:nvPr/>
        </p:nvSpPr>
        <p:spPr>
          <a:xfrm>
            <a:off x="548640" y="3108960"/>
            <a:ext cx="2560320" cy="1280160"/>
          </a:xfrm>
          <a:prstGeom prst="rect">
            <a:avLst/>
          </a:prstGeom>
          <a:solidFill>
            <a:srgbClr val="E4F0EC"/>
          </a:solidFill>
          <a:ln/>
        </p:spPr>
      </p:sp>
      <p:pic>
        <p:nvPicPr>
          <p:cNvPr id="17" name="Image 3" descr="preencoded.png">    </p:cNvPr>
          <p:cNvPicPr>
            <a:picLocks noChangeAspect="1"/>
          </p:cNvPicPr>
          <p:nvPr/>
        </p:nvPicPr>
        <p:blipFill>
          <a:blip r:embed="rId4"/>
          <a:stretch>
            <a:fillRect/>
          </a:stretch>
        </p:blipFill>
        <p:spPr>
          <a:xfrm>
            <a:off x="731520" y="3337560"/>
            <a:ext cx="320040" cy="320040"/>
          </a:xfrm>
          <a:prstGeom prst="rect">
            <a:avLst/>
          </a:prstGeom>
        </p:spPr>
      </p:pic>
      <p:sp>
        <p:nvSpPr>
          <p:cNvPr id="18" name="Text 12"/>
          <p:cNvSpPr/>
          <p:nvPr/>
        </p:nvSpPr>
        <p:spPr>
          <a:xfrm>
            <a:off x="1188720" y="3246120"/>
            <a:ext cx="1737360" cy="320040"/>
          </a:xfrm>
          <a:prstGeom prst="rect">
            <a:avLst/>
          </a:prstGeom>
          <a:noFill/>
          <a:ln/>
        </p:spPr>
        <p:txBody>
          <a:bodyPr wrap="square" lIns="0" tIns="0" rIns="0" bIns="0" rtlCol="0" anchor="ctr"/>
          <a:lstStyle/>
          <a:p>
            <a:pPr indent="0" marL="0">
              <a:buNone/>
            </a:pPr>
            <a:r>
              <a:rPr lang="en-US" sz="1300" b="1" dirty="0">
                <a:solidFill>
                  <a:srgbClr val="2C3530"/>
                </a:solidFill>
                <a:latin typeface="Georgia" pitchFamily="34" charset="0"/>
                <a:ea typeface="Georgia" pitchFamily="34" charset="-122"/>
                <a:cs typeface="Georgia" pitchFamily="34" charset="-120"/>
              </a:rPr>
              <a:t>Voice coach with speed control</a:t>
            </a:r>
            <a:endParaRPr lang="en-US" sz="1300" dirty="0"/>
          </a:p>
        </p:txBody>
      </p:sp>
      <p:sp>
        <p:nvSpPr>
          <p:cNvPr id="19" name="Text 13"/>
          <p:cNvSpPr/>
          <p:nvPr/>
        </p:nvSpPr>
        <p:spPr>
          <a:xfrm>
            <a:off x="1188720" y="3611880"/>
            <a:ext cx="1737360" cy="548640"/>
          </a:xfrm>
          <a:prstGeom prst="rect">
            <a:avLst/>
          </a:prstGeom>
          <a:noFill/>
          <a:ln/>
        </p:spPr>
        <p:txBody>
          <a:bodyPr wrap="square" lIns="0" tIns="0" rIns="0" bIns="0" rtlCol="0" anchor="ctr"/>
          <a:lstStyle/>
          <a:p>
            <a:pPr indent="0" marL="0">
              <a:buNone/>
            </a:pPr>
            <a:r>
              <a:rPr lang="en-US" sz="1100" dirty="0">
                <a:solidFill>
                  <a:srgbClr val="5F7A6F"/>
                </a:solidFill>
                <a:latin typeface="Calibri" pitchFamily="34" charset="0"/>
                <a:ea typeface="Calibri" pitchFamily="34" charset="-122"/>
                <a:cs typeface="Calibri" pitchFamily="34" charset="-120"/>
              </a:rPr>
              <a:t>Hands free, adjustable pace, infinite replays</a:t>
            </a:r>
            <a:endParaRPr lang="en-US" sz="1100" dirty="0"/>
          </a:p>
        </p:txBody>
      </p:sp>
      <p:sp>
        <p:nvSpPr>
          <p:cNvPr id="20" name="Shape 14"/>
          <p:cNvSpPr/>
          <p:nvPr/>
        </p:nvSpPr>
        <p:spPr>
          <a:xfrm>
            <a:off x="3337560" y="3108960"/>
            <a:ext cx="2560320" cy="1280160"/>
          </a:xfrm>
          <a:prstGeom prst="rect">
            <a:avLst/>
          </a:prstGeom>
          <a:solidFill>
            <a:srgbClr val="E4F0EC"/>
          </a:solidFill>
          <a:ln/>
        </p:spPr>
      </p:sp>
      <p:pic>
        <p:nvPicPr>
          <p:cNvPr id="21" name="Image 4" descr="preencoded.png">    </p:cNvPr>
          <p:cNvPicPr>
            <a:picLocks noChangeAspect="1"/>
          </p:cNvPicPr>
          <p:nvPr/>
        </p:nvPicPr>
        <p:blipFill>
          <a:blip r:embed="rId5"/>
          <a:stretch>
            <a:fillRect/>
          </a:stretch>
        </p:blipFill>
        <p:spPr>
          <a:xfrm>
            <a:off x="3520440" y="3337560"/>
            <a:ext cx="320040" cy="320040"/>
          </a:xfrm>
          <a:prstGeom prst="rect">
            <a:avLst/>
          </a:prstGeom>
        </p:spPr>
      </p:pic>
      <p:sp>
        <p:nvSpPr>
          <p:cNvPr id="22" name="Text 15"/>
          <p:cNvSpPr/>
          <p:nvPr/>
        </p:nvSpPr>
        <p:spPr>
          <a:xfrm>
            <a:off x="3977640" y="3246120"/>
            <a:ext cx="1737360" cy="320040"/>
          </a:xfrm>
          <a:prstGeom prst="rect">
            <a:avLst/>
          </a:prstGeom>
          <a:noFill/>
          <a:ln/>
        </p:spPr>
        <p:txBody>
          <a:bodyPr wrap="square" lIns="0" tIns="0" rIns="0" bIns="0" rtlCol="0" anchor="ctr"/>
          <a:lstStyle/>
          <a:p>
            <a:pPr indent="0" marL="0">
              <a:buNone/>
            </a:pPr>
            <a:r>
              <a:rPr lang="en-US" sz="1300" b="1" dirty="0">
                <a:solidFill>
                  <a:srgbClr val="2C3530"/>
                </a:solidFill>
                <a:latin typeface="Georgia" pitchFamily="34" charset="0"/>
                <a:ea typeface="Georgia" pitchFamily="34" charset="-122"/>
                <a:cs typeface="Georgia" pitchFamily="34" charset="-120"/>
              </a:rPr>
              <a:t>Sensory controls built in</a:t>
            </a:r>
            <a:endParaRPr lang="en-US" sz="1300" dirty="0"/>
          </a:p>
        </p:txBody>
      </p:sp>
      <p:sp>
        <p:nvSpPr>
          <p:cNvPr id="23" name="Text 16"/>
          <p:cNvSpPr/>
          <p:nvPr/>
        </p:nvSpPr>
        <p:spPr>
          <a:xfrm>
            <a:off x="3977640" y="3611880"/>
            <a:ext cx="1737360" cy="548640"/>
          </a:xfrm>
          <a:prstGeom prst="rect">
            <a:avLst/>
          </a:prstGeom>
          <a:noFill/>
          <a:ln/>
        </p:spPr>
        <p:txBody>
          <a:bodyPr wrap="square" lIns="0" tIns="0" rIns="0" bIns="0" rtlCol="0" anchor="ctr"/>
          <a:lstStyle/>
          <a:p>
            <a:pPr indent="0" marL="0">
              <a:buNone/>
            </a:pPr>
            <a:r>
              <a:rPr lang="en-US" sz="1100" dirty="0">
                <a:solidFill>
                  <a:srgbClr val="5F7A6F"/>
                </a:solidFill>
                <a:latin typeface="Calibri" pitchFamily="34" charset="0"/>
                <a:ea typeface="Calibri" pitchFamily="34" charset="-122"/>
                <a:cs typeface="Calibri" pitchFamily="34" charset="-120"/>
              </a:rPr>
              <a:t>Reduced motion, calm celebration, break timer</a:t>
            </a:r>
            <a:endParaRPr lang="en-US" sz="1100" dirty="0"/>
          </a:p>
        </p:txBody>
      </p:sp>
      <p:sp>
        <p:nvSpPr>
          <p:cNvPr id="24" name="Shape 17"/>
          <p:cNvSpPr/>
          <p:nvPr/>
        </p:nvSpPr>
        <p:spPr>
          <a:xfrm>
            <a:off x="6126480" y="3108960"/>
            <a:ext cx="2560320" cy="1280160"/>
          </a:xfrm>
          <a:prstGeom prst="rect">
            <a:avLst/>
          </a:prstGeom>
          <a:solidFill>
            <a:srgbClr val="E4F0EC"/>
          </a:solidFill>
          <a:ln/>
        </p:spPr>
      </p:sp>
      <p:pic>
        <p:nvPicPr>
          <p:cNvPr id="25" name="Image 5" descr="preencoded.png">    </p:cNvPr>
          <p:cNvPicPr>
            <a:picLocks noChangeAspect="1"/>
          </p:cNvPicPr>
          <p:nvPr/>
        </p:nvPicPr>
        <p:blipFill>
          <a:blip r:embed="rId6"/>
          <a:stretch>
            <a:fillRect/>
          </a:stretch>
        </p:blipFill>
        <p:spPr>
          <a:xfrm>
            <a:off x="6309360" y="3337560"/>
            <a:ext cx="320040" cy="320040"/>
          </a:xfrm>
          <a:prstGeom prst="rect">
            <a:avLst/>
          </a:prstGeom>
        </p:spPr>
      </p:pic>
      <p:sp>
        <p:nvSpPr>
          <p:cNvPr id="26" name="Text 18"/>
          <p:cNvSpPr/>
          <p:nvPr/>
        </p:nvSpPr>
        <p:spPr>
          <a:xfrm>
            <a:off x="6766560" y="3246120"/>
            <a:ext cx="1737360" cy="320040"/>
          </a:xfrm>
          <a:prstGeom prst="rect">
            <a:avLst/>
          </a:prstGeom>
          <a:noFill/>
          <a:ln/>
        </p:spPr>
        <p:txBody>
          <a:bodyPr wrap="square" lIns="0" tIns="0" rIns="0" bIns="0" rtlCol="0" anchor="ctr"/>
          <a:lstStyle/>
          <a:p>
            <a:pPr indent="0" marL="0">
              <a:buNone/>
            </a:pPr>
            <a:r>
              <a:rPr lang="en-US" sz="1300" b="1" dirty="0">
                <a:solidFill>
                  <a:srgbClr val="2C3530"/>
                </a:solidFill>
                <a:latin typeface="Georgia" pitchFamily="34" charset="0"/>
                <a:ea typeface="Georgia" pitchFamily="34" charset="-122"/>
                <a:cs typeface="Georgia" pitchFamily="34" charset="-120"/>
              </a:rPr>
              <a:t>3 support levels</a:t>
            </a:r>
            <a:endParaRPr lang="en-US" sz="1300" dirty="0"/>
          </a:p>
        </p:txBody>
      </p:sp>
      <p:sp>
        <p:nvSpPr>
          <p:cNvPr id="27" name="Text 19"/>
          <p:cNvSpPr/>
          <p:nvPr/>
        </p:nvSpPr>
        <p:spPr>
          <a:xfrm>
            <a:off x="6766560" y="3611880"/>
            <a:ext cx="1737360" cy="548640"/>
          </a:xfrm>
          <a:prstGeom prst="rect">
            <a:avLst/>
          </a:prstGeom>
          <a:noFill/>
          <a:ln/>
        </p:spPr>
        <p:txBody>
          <a:bodyPr wrap="square" lIns="0" tIns="0" rIns="0" bIns="0" rtlCol="0" anchor="ctr"/>
          <a:lstStyle/>
          <a:p>
            <a:pPr indent="0" marL="0">
              <a:buNone/>
            </a:pPr>
            <a:r>
              <a:rPr lang="en-US" sz="1100" dirty="0">
                <a:solidFill>
                  <a:srgbClr val="5F7A6F"/>
                </a:solidFill>
                <a:latin typeface="Calibri" pitchFamily="34" charset="0"/>
                <a:ea typeface="Calibri" pitchFamily="34" charset="-122"/>
                <a:cs typeface="Calibri" pitchFamily="34" charset="-120"/>
              </a:rPr>
              <a:t>Adapts from independent to fully guided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F24"/>
        </a:solidFill>
      </p:bgPr>
    </p:bg>
    <p:spTree>
      <p:nvGrpSpPr>
        <p:cNvPr id="1" name=""/>
        <p:cNvGrpSpPr/>
        <p:nvPr/>
      </p:nvGrpSpPr>
      <p:grpSpPr>
        <a:xfrm>
          <a:off x="0" y="0"/>
          <a:ext cx="0" cy="0"/>
          <a:chOff x="0" y="0"/>
          <a:chExt cx="0" cy="0"/>
        </a:xfrm>
      </p:grpSpPr>
      <p:sp>
        <p:nvSpPr>
          <p:cNvPr id="2" name="Shape 0"/>
          <p:cNvSpPr/>
          <p:nvPr/>
        </p:nvSpPr>
        <p:spPr>
          <a:xfrm>
            <a:off x="2926080" y="914400"/>
            <a:ext cx="3291840" cy="3291840"/>
          </a:xfrm>
          <a:prstGeom prst="roundRect">
            <a:avLst>
              <a:gd name="adj" fmla="val 8333"/>
            </a:avLst>
          </a:prstGeom>
          <a:solidFill>
            <a:srgbClr val="2D5E4B"/>
          </a:solidFill>
          <a:ln/>
          <a:effectLst>
            <a:outerShdw sx="100000" sy="100000" kx="0" ky="0" algn="bl" rotWithShape="0" blurRad="101600" dist="38100" dir="81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4160520" y="1463040"/>
            <a:ext cx="822960" cy="822960"/>
          </a:xfrm>
          <a:prstGeom prst="rect">
            <a:avLst/>
          </a:prstGeom>
        </p:spPr>
      </p:pic>
      <p:sp>
        <p:nvSpPr>
          <p:cNvPr id="4" name="Text 1"/>
          <p:cNvSpPr/>
          <p:nvPr/>
        </p:nvSpPr>
        <p:spPr>
          <a:xfrm>
            <a:off x="2926080" y="2468880"/>
            <a:ext cx="329184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Live Demo</a:t>
            </a:r>
            <a:endParaRPr lang="en-US" sz="3200" dirty="0"/>
          </a:p>
        </p:txBody>
      </p:sp>
      <p:sp>
        <p:nvSpPr>
          <p:cNvPr id="5" name="Text 2"/>
          <p:cNvSpPr/>
          <p:nvPr/>
        </p:nvSpPr>
        <p:spPr>
          <a:xfrm>
            <a:off x="2926080" y="3017520"/>
            <a:ext cx="3291840" cy="365760"/>
          </a:xfrm>
          <a:prstGeom prst="rect">
            <a:avLst/>
          </a:prstGeom>
          <a:noFill/>
          <a:ln/>
        </p:spPr>
        <p:txBody>
          <a:bodyPr wrap="square" lIns="0" tIns="0" rIns="0" bIns="0" rtlCol="0" anchor="ctr"/>
          <a:lstStyle/>
          <a:p>
            <a:pPr algn="ctr" indent="0" marL="0">
              <a:buNone/>
            </a:pPr>
            <a:r>
              <a:rPr lang="en-US" sz="1600" dirty="0">
                <a:solidFill>
                  <a:srgbClr val="E4F0EC"/>
                </a:solidFill>
                <a:latin typeface="Calibri" pitchFamily="34" charset="0"/>
                <a:ea typeface="Calibri" pitchFamily="34" charset="-122"/>
                <a:cs typeface="Calibri" pitchFamily="34" charset="-120"/>
              </a:rPr>
              <a:t>Shelf Scan Task</a:t>
            </a:r>
            <a:endParaRPr lang="en-US" sz="1600" dirty="0"/>
          </a:p>
        </p:txBody>
      </p:sp>
      <p:sp>
        <p:nvSpPr>
          <p:cNvPr id="6" name="Text 3"/>
          <p:cNvSpPr/>
          <p:nvPr/>
        </p:nvSpPr>
        <p:spPr>
          <a:xfrm>
            <a:off x="1371600" y="4297680"/>
            <a:ext cx="6400800" cy="457200"/>
          </a:xfrm>
          <a:prstGeom prst="rect">
            <a:avLst/>
          </a:prstGeom>
          <a:noFill/>
          <a:ln/>
        </p:spPr>
        <p:txBody>
          <a:bodyPr wrap="square" lIns="0" tIns="0" rIns="0" bIns="0" rtlCol="0" anchor="ctr"/>
          <a:lstStyle/>
          <a:p>
            <a:pPr algn="ctr" indent="0" marL="0">
              <a:buNone/>
            </a:pPr>
            <a:r>
              <a:rPr lang="en-US" sz="1300" dirty="0">
                <a:solidFill>
                  <a:srgbClr val="5F7A6F"/>
                </a:solidFill>
                <a:latin typeface="Calibri" pitchFamily="34" charset="0"/>
                <a:ea typeface="Calibri" pitchFamily="34" charset="-122"/>
                <a:cs typeface="Calibri" pitchFamily="34" charset="-120"/>
              </a:rPr>
              <a:t>Watch a library worker scan a shelf, detect misplaced books, and fix them — guided by BuddyWork every step.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3200" b="1" dirty="0">
                <a:solidFill>
                  <a:srgbClr val="2C3530"/>
                </a:solidFill>
                <a:latin typeface="Georgia" pitchFamily="34" charset="0"/>
                <a:ea typeface="Georgia" pitchFamily="34" charset="-122"/>
                <a:cs typeface="Georgia" pitchFamily="34" charset="-120"/>
              </a:rPr>
              <a:t>Technology Stack</a:t>
            </a:r>
            <a:endParaRPr lang="en-US" sz="3200" dirty="0"/>
          </a:p>
        </p:txBody>
      </p:sp>
      <p:sp>
        <p:nvSpPr>
          <p:cNvPr id="3" name="Shape 1"/>
          <p:cNvSpPr/>
          <p:nvPr/>
        </p:nvSpPr>
        <p:spPr>
          <a:xfrm>
            <a:off x="548640" y="1188720"/>
            <a:ext cx="2560320" cy="1371600"/>
          </a:xfrm>
          <a:prstGeom prst="rect">
            <a:avLst/>
          </a:prstGeom>
          <a:solidFill>
            <a:srgbClr val="FFFFFF"/>
          </a:solidFill>
          <a:ln w="12700">
            <a:solidFill>
              <a:srgbClr val="D9E2DD"/>
            </a:solidFill>
            <a:prstDash val="solid"/>
          </a:ln>
          <a:effectLst>
            <a:outerShdw sx="100000" sy="100000" kx="0" ky="0" algn="bl" rotWithShape="0" blurRad="101600" dist="38100" dir="8100000">
              <a:srgbClr val="000000">
                <a:alpha val="12000"/>
              </a:srgbClr>
            </a:outerShdw>
          </a:effectLst>
        </p:spPr>
      </p:sp>
      <p:sp>
        <p:nvSpPr>
          <p:cNvPr id="4" name="Shape 2"/>
          <p:cNvSpPr/>
          <p:nvPr/>
        </p:nvSpPr>
        <p:spPr>
          <a:xfrm>
            <a:off x="548640" y="1188720"/>
            <a:ext cx="2560320" cy="73152"/>
          </a:xfrm>
          <a:prstGeom prst="rect">
            <a:avLst/>
          </a:prstGeom>
          <a:solidFill>
            <a:srgbClr val="4D9484"/>
          </a:solidFill>
          <a:ln/>
        </p:spPr>
      </p:sp>
      <p:sp>
        <p:nvSpPr>
          <p:cNvPr id="5" name="Text 3"/>
          <p:cNvSpPr/>
          <p:nvPr/>
        </p:nvSpPr>
        <p:spPr>
          <a:xfrm>
            <a:off x="731520" y="1463040"/>
            <a:ext cx="2194560" cy="320040"/>
          </a:xfrm>
          <a:prstGeom prst="rect">
            <a:avLst/>
          </a:prstGeom>
          <a:noFill/>
          <a:ln/>
        </p:spPr>
        <p:txBody>
          <a:bodyPr wrap="square" lIns="0" tIns="0" rIns="0" bIns="0" rtlCol="0" anchor="ctr"/>
          <a:lstStyle/>
          <a:p>
            <a:pPr indent="0" marL="0">
              <a:buNone/>
            </a:pPr>
            <a:r>
              <a:rPr lang="en-US" sz="1600" b="1" dirty="0">
                <a:solidFill>
                  <a:srgbClr val="2C3530"/>
                </a:solidFill>
                <a:latin typeface="Georgia" pitchFamily="34" charset="0"/>
                <a:ea typeface="Georgia" pitchFamily="34" charset="-122"/>
                <a:cs typeface="Georgia" pitchFamily="34" charset="-120"/>
              </a:rPr>
              <a:t>React</a:t>
            </a:r>
            <a:endParaRPr lang="en-US" sz="1600" dirty="0"/>
          </a:p>
        </p:txBody>
      </p:sp>
      <p:sp>
        <p:nvSpPr>
          <p:cNvPr id="6" name="Text 4"/>
          <p:cNvSpPr/>
          <p:nvPr/>
        </p:nvSpPr>
        <p:spPr>
          <a:xfrm>
            <a:off x="731520" y="1828800"/>
            <a:ext cx="2194560" cy="457200"/>
          </a:xfrm>
          <a:prstGeom prst="rect">
            <a:avLst/>
          </a:prstGeom>
          <a:noFill/>
          <a:ln/>
        </p:spPr>
        <p:txBody>
          <a:bodyPr wrap="square" lIns="0" tIns="0" rIns="0" bIns="0" rtlCol="0" anchor="ctr"/>
          <a:lstStyle/>
          <a:p>
            <a:pPr indent="0" marL="0">
              <a:buNone/>
            </a:pPr>
            <a:r>
              <a:rPr lang="en-US" sz="1200" dirty="0">
                <a:solidFill>
                  <a:srgbClr val="5F7A6F"/>
                </a:solidFill>
                <a:latin typeface="Calibri" pitchFamily="34" charset="0"/>
                <a:ea typeface="Calibri" pitchFamily="34" charset="-122"/>
                <a:cs typeface="Calibri" pitchFamily="34" charset="-120"/>
              </a:rPr>
              <a:t>Task flow, voice, UI</a:t>
            </a:r>
            <a:endParaRPr lang="en-US" sz="1200" dirty="0"/>
          </a:p>
        </p:txBody>
      </p:sp>
      <p:sp>
        <p:nvSpPr>
          <p:cNvPr id="7" name="Shape 5"/>
          <p:cNvSpPr/>
          <p:nvPr/>
        </p:nvSpPr>
        <p:spPr>
          <a:xfrm>
            <a:off x="3337560" y="1188720"/>
            <a:ext cx="2560320" cy="1371600"/>
          </a:xfrm>
          <a:prstGeom prst="rect">
            <a:avLst/>
          </a:prstGeom>
          <a:solidFill>
            <a:srgbClr val="FFFFFF"/>
          </a:solidFill>
          <a:ln w="12700">
            <a:solidFill>
              <a:srgbClr val="D9E2DD"/>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337560" y="1188720"/>
            <a:ext cx="2560320" cy="73152"/>
          </a:xfrm>
          <a:prstGeom prst="rect">
            <a:avLst/>
          </a:prstGeom>
          <a:solidFill>
            <a:srgbClr val="6B5BA8"/>
          </a:solidFill>
          <a:ln/>
        </p:spPr>
      </p:sp>
      <p:sp>
        <p:nvSpPr>
          <p:cNvPr id="9" name="Text 7"/>
          <p:cNvSpPr/>
          <p:nvPr/>
        </p:nvSpPr>
        <p:spPr>
          <a:xfrm>
            <a:off x="3520440" y="1463040"/>
            <a:ext cx="2194560" cy="320040"/>
          </a:xfrm>
          <a:prstGeom prst="rect">
            <a:avLst/>
          </a:prstGeom>
          <a:noFill/>
          <a:ln/>
        </p:spPr>
        <p:txBody>
          <a:bodyPr wrap="square" lIns="0" tIns="0" rIns="0" bIns="0" rtlCol="0" anchor="ctr"/>
          <a:lstStyle/>
          <a:p>
            <a:pPr indent="0" marL="0">
              <a:buNone/>
            </a:pPr>
            <a:r>
              <a:rPr lang="en-US" sz="1600" b="1" dirty="0">
                <a:solidFill>
                  <a:srgbClr val="2C3530"/>
                </a:solidFill>
                <a:latin typeface="Georgia" pitchFamily="34" charset="0"/>
                <a:ea typeface="Georgia" pitchFamily="34" charset="-122"/>
                <a:cs typeface="Georgia" pitchFamily="34" charset="-120"/>
              </a:rPr>
              <a:t>Unity WebGL</a:t>
            </a:r>
            <a:endParaRPr lang="en-US" sz="1600" dirty="0"/>
          </a:p>
        </p:txBody>
      </p:sp>
      <p:sp>
        <p:nvSpPr>
          <p:cNvPr id="10" name="Text 8"/>
          <p:cNvSpPr/>
          <p:nvPr/>
        </p:nvSpPr>
        <p:spPr>
          <a:xfrm>
            <a:off x="3520440" y="1828800"/>
            <a:ext cx="2194560" cy="457200"/>
          </a:xfrm>
          <a:prstGeom prst="rect">
            <a:avLst/>
          </a:prstGeom>
          <a:noFill/>
          <a:ln/>
        </p:spPr>
        <p:txBody>
          <a:bodyPr wrap="square" lIns="0" tIns="0" rIns="0" bIns="0" rtlCol="0" anchor="ctr"/>
          <a:lstStyle/>
          <a:p>
            <a:pPr indent="0" marL="0">
              <a:buNone/>
            </a:pPr>
            <a:r>
              <a:rPr lang="en-US" sz="1200" dirty="0">
                <a:solidFill>
                  <a:srgbClr val="5F7A6F"/>
                </a:solidFill>
                <a:latin typeface="Calibri" pitchFamily="34" charset="0"/>
                <a:ea typeface="Calibri" pitchFamily="34" charset="-122"/>
                <a:cs typeface="Calibri" pitchFamily="34" charset="-120"/>
              </a:rPr>
              <a:t>Camera + AR overlay</a:t>
            </a:r>
            <a:endParaRPr lang="en-US" sz="1200" dirty="0"/>
          </a:p>
        </p:txBody>
      </p:sp>
      <p:sp>
        <p:nvSpPr>
          <p:cNvPr id="11" name="Shape 9"/>
          <p:cNvSpPr/>
          <p:nvPr/>
        </p:nvSpPr>
        <p:spPr>
          <a:xfrm>
            <a:off x="6126480" y="1188720"/>
            <a:ext cx="2560320" cy="1371600"/>
          </a:xfrm>
          <a:prstGeom prst="rect">
            <a:avLst/>
          </a:prstGeom>
          <a:solidFill>
            <a:srgbClr val="FFFFFF"/>
          </a:solidFill>
          <a:ln w="12700">
            <a:solidFill>
              <a:srgbClr val="D9E2DD"/>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6126480" y="1188720"/>
            <a:ext cx="2560320" cy="73152"/>
          </a:xfrm>
          <a:prstGeom prst="rect">
            <a:avLst/>
          </a:prstGeom>
          <a:solidFill>
            <a:srgbClr val="2F7AB7"/>
          </a:solidFill>
          <a:ln/>
        </p:spPr>
      </p:sp>
      <p:sp>
        <p:nvSpPr>
          <p:cNvPr id="13" name="Text 11"/>
          <p:cNvSpPr/>
          <p:nvPr/>
        </p:nvSpPr>
        <p:spPr>
          <a:xfrm>
            <a:off x="6309360" y="1463040"/>
            <a:ext cx="2194560" cy="320040"/>
          </a:xfrm>
          <a:prstGeom prst="rect">
            <a:avLst/>
          </a:prstGeom>
          <a:noFill/>
          <a:ln/>
        </p:spPr>
        <p:txBody>
          <a:bodyPr wrap="square" lIns="0" tIns="0" rIns="0" bIns="0" rtlCol="0" anchor="ctr"/>
          <a:lstStyle/>
          <a:p>
            <a:pPr indent="0" marL="0">
              <a:buNone/>
            </a:pPr>
            <a:r>
              <a:rPr lang="en-US" sz="1600" b="1" dirty="0">
                <a:solidFill>
                  <a:srgbClr val="2C3530"/>
                </a:solidFill>
                <a:latin typeface="Georgia" pitchFamily="34" charset="0"/>
                <a:ea typeface="Georgia" pitchFamily="34" charset="-122"/>
                <a:cs typeface="Georgia" pitchFamily="34" charset="-120"/>
              </a:rPr>
              <a:t>Azure Functions</a:t>
            </a:r>
            <a:endParaRPr lang="en-US" sz="1600" dirty="0"/>
          </a:p>
        </p:txBody>
      </p:sp>
      <p:sp>
        <p:nvSpPr>
          <p:cNvPr id="14" name="Text 12"/>
          <p:cNvSpPr/>
          <p:nvPr/>
        </p:nvSpPr>
        <p:spPr>
          <a:xfrm>
            <a:off x="6309360" y="1828800"/>
            <a:ext cx="2194560" cy="457200"/>
          </a:xfrm>
          <a:prstGeom prst="rect">
            <a:avLst/>
          </a:prstGeom>
          <a:noFill/>
          <a:ln/>
        </p:spPr>
        <p:txBody>
          <a:bodyPr wrap="square" lIns="0" tIns="0" rIns="0" bIns="0" rtlCol="0" anchor="ctr"/>
          <a:lstStyle/>
          <a:p>
            <a:pPr indent="0" marL="0">
              <a:buNone/>
            </a:pPr>
            <a:r>
              <a:rPr lang="en-US" sz="1200" dirty="0">
                <a:solidFill>
                  <a:srgbClr val="5F7A6F"/>
                </a:solidFill>
                <a:latin typeface="Calibri" pitchFamily="34" charset="0"/>
                <a:ea typeface="Calibri" pitchFamily="34" charset="-122"/>
                <a:cs typeface="Calibri" pitchFamily="34" charset="-120"/>
              </a:rPr>
              <a:t>Sorting engine, APIs</a:t>
            </a:r>
            <a:endParaRPr lang="en-US" sz="1200" dirty="0"/>
          </a:p>
        </p:txBody>
      </p:sp>
      <p:sp>
        <p:nvSpPr>
          <p:cNvPr id="15" name="Shape 13"/>
          <p:cNvSpPr/>
          <p:nvPr/>
        </p:nvSpPr>
        <p:spPr>
          <a:xfrm>
            <a:off x="548640" y="2834640"/>
            <a:ext cx="2560320" cy="1371600"/>
          </a:xfrm>
          <a:prstGeom prst="rect">
            <a:avLst/>
          </a:prstGeom>
          <a:solidFill>
            <a:srgbClr val="FFFFFF"/>
          </a:solidFill>
          <a:ln w="12700">
            <a:solidFill>
              <a:srgbClr val="D9E2DD"/>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548640" y="2834640"/>
            <a:ext cx="2560320" cy="73152"/>
          </a:xfrm>
          <a:prstGeom prst="rect">
            <a:avLst/>
          </a:prstGeom>
          <a:solidFill>
            <a:srgbClr val="8B4DB8"/>
          </a:solidFill>
          <a:ln/>
        </p:spPr>
      </p:sp>
      <p:sp>
        <p:nvSpPr>
          <p:cNvPr id="17" name="Text 15"/>
          <p:cNvSpPr/>
          <p:nvPr/>
        </p:nvSpPr>
        <p:spPr>
          <a:xfrm>
            <a:off x="731520" y="3108960"/>
            <a:ext cx="2194560" cy="320040"/>
          </a:xfrm>
          <a:prstGeom prst="rect">
            <a:avLst/>
          </a:prstGeom>
          <a:noFill/>
          <a:ln/>
        </p:spPr>
        <p:txBody>
          <a:bodyPr wrap="square" lIns="0" tIns="0" rIns="0" bIns="0" rtlCol="0" anchor="ctr"/>
          <a:lstStyle/>
          <a:p>
            <a:pPr indent="0" marL="0">
              <a:buNone/>
            </a:pPr>
            <a:r>
              <a:rPr lang="en-US" sz="1600" b="1" dirty="0">
                <a:solidFill>
                  <a:srgbClr val="2C3530"/>
                </a:solidFill>
                <a:latin typeface="Georgia" pitchFamily="34" charset="0"/>
                <a:ea typeface="Georgia" pitchFamily="34" charset="-122"/>
                <a:cs typeface="Georgia" pitchFamily="34" charset="-120"/>
              </a:rPr>
              <a:t>Azure AI Vision</a:t>
            </a:r>
            <a:endParaRPr lang="en-US" sz="1600" dirty="0"/>
          </a:p>
        </p:txBody>
      </p:sp>
      <p:sp>
        <p:nvSpPr>
          <p:cNvPr id="18" name="Text 16"/>
          <p:cNvSpPr/>
          <p:nvPr/>
        </p:nvSpPr>
        <p:spPr>
          <a:xfrm>
            <a:off x="731520" y="3474720"/>
            <a:ext cx="2194560" cy="457200"/>
          </a:xfrm>
          <a:prstGeom prst="rect">
            <a:avLst/>
          </a:prstGeom>
          <a:noFill/>
          <a:ln/>
        </p:spPr>
        <p:txBody>
          <a:bodyPr wrap="square" lIns="0" tIns="0" rIns="0" bIns="0" rtlCol="0" anchor="ctr"/>
          <a:lstStyle/>
          <a:p>
            <a:pPr indent="0" marL="0">
              <a:buNone/>
            </a:pPr>
            <a:r>
              <a:rPr lang="en-US" sz="1200" dirty="0">
                <a:solidFill>
                  <a:srgbClr val="5F7A6F"/>
                </a:solidFill>
                <a:latin typeface="Calibri" pitchFamily="34" charset="0"/>
                <a:ea typeface="Calibri" pitchFamily="34" charset="-122"/>
                <a:cs typeface="Calibri" pitchFamily="34" charset="-120"/>
              </a:rPr>
              <a:t>OCR for spine labels</a:t>
            </a:r>
            <a:endParaRPr lang="en-US" sz="1200" dirty="0"/>
          </a:p>
        </p:txBody>
      </p:sp>
      <p:sp>
        <p:nvSpPr>
          <p:cNvPr id="19" name="Shape 17"/>
          <p:cNvSpPr/>
          <p:nvPr/>
        </p:nvSpPr>
        <p:spPr>
          <a:xfrm>
            <a:off x="3337560" y="2834640"/>
            <a:ext cx="2560320" cy="1371600"/>
          </a:xfrm>
          <a:prstGeom prst="rect">
            <a:avLst/>
          </a:prstGeom>
          <a:solidFill>
            <a:srgbClr val="FFFFFF"/>
          </a:solidFill>
          <a:ln w="12700">
            <a:solidFill>
              <a:srgbClr val="D9E2DD"/>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337560" y="2834640"/>
            <a:ext cx="2560320" cy="73152"/>
          </a:xfrm>
          <a:prstGeom prst="rect">
            <a:avLst/>
          </a:prstGeom>
          <a:solidFill>
            <a:srgbClr val="B06040"/>
          </a:solidFill>
          <a:ln/>
        </p:spPr>
      </p:sp>
      <p:sp>
        <p:nvSpPr>
          <p:cNvPr id="21" name="Text 19"/>
          <p:cNvSpPr/>
          <p:nvPr/>
        </p:nvSpPr>
        <p:spPr>
          <a:xfrm>
            <a:off x="3520440" y="3108960"/>
            <a:ext cx="2194560" cy="320040"/>
          </a:xfrm>
          <a:prstGeom prst="rect">
            <a:avLst/>
          </a:prstGeom>
          <a:noFill/>
          <a:ln/>
        </p:spPr>
        <p:txBody>
          <a:bodyPr wrap="square" lIns="0" tIns="0" rIns="0" bIns="0" rtlCol="0" anchor="ctr"/>
          <a:lstStyle/>
          <a:p>
            <a:pPr indent="0" marL="0">
              <a:buNone/>
            </a:pPr>
            <a:r>
              <a:rPr lang="en-US" sz="1600" b="1" dirty="0">
                <a:solidFill>
                  <a:srgbClr val="2C3530"/>
                </a:solidFill>
                <a:latin typeface="Georgia" pitchFamily="34" charset="0"/>
                <a:ea typeface="Georgia" pitchFamily="34" charset="-122"/>
                <a:cs typeface="Georgia" pitchFamily="34" charset="-120"/>
              </a:rPr>
              <a:t>Azure OpenAI</a:t>
            </a:r>
            <a:endParaRPr lang="en-US" sz="1600" dirty="0"/>
          </a:p>
        </p:txBody>
      </p:sp>
      <p:sp>
        <p:nvSpPr>
          <p:cNvPr id="22" name="Text 20"/>
          <p:cNvSpPr/>
          <p:nvPr/>
        </p:nvSpPr>
        <p:spPr>
          <a:xfrm>
            <a:off x="3520440" y="3474720"/>
            <a:ext cx="2194560" cy="457200"/>
          </a:xfrm>
          <a:prstGeom prst="rect">
            <a:avLst/>
          </a:prstGeom>
          <a:noFill/>
          <a:ln/>
        </p:spPr>
        <p:txBody>
          <a:bodyPr wrap="square" lIns="0" tIns="0" rIns="0" bIns="0" rtlCol="0" anchor="ctr"/>
          <a:lstStyle/>
          <a:p>
            <a:pPr indent="0" marL="0">
              <a:buNone/>
            </a:pPr>
            <a:r>
              <a:rPr lang="en-US" sz="1200" dirty="0">
                <a:solidFill>
                  <a:srgbClr val="5F7A6F"/>
                </a:solidFill>
                <a:latin typeface="Calibri" pitchFamily="34" charset="0"/>
                <a:ea typeface="Calibri" pitchFamily="34" charset="-122"/>
                <a:cs typeface="Calibri" pitchFamily="34" charset="-120"/>
              </a:rPr>
              <a:t>Adaptive coaching</a:t>
            </a:r>
            <a:endParaRPr lang="en-US" sz="1200" dirty="0"/>
          </a:p>
        </p:txBody>
      </p:sp>
      <p:sp>
        <p:nvSpPr>
          <p:cNvPr id="23" name="Shape 21"/>
          <p:cNvSpPr/>
          <p:nvPr/>
        </p:nvSpPr>
        <p:spPr>
          <a:xfrm>
            <a:off x="6126480" y="2834640"/>
            <a:ext cx="2560320" cy="1371600"/>
          </a:xfrm>
          <a:prstGeom prst="rect">
            <a:avLst/>
          </a:prstGeom>
          <a:solidFill>
            <a:srgbClr val="FFFFFF"/>
          </a:solidFill>
          <a:ln w="12700">
            <a:solidFill>
              <a:srgbClr val="D9E2DD"/>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126480" y="2834640"/>
            <a:ext cx="2560320" cy="73152"/>
          </a:xfrm>
          <a:prstGeom prst="rect">
            <a:avLst/>
          </a:prstGeom>
          <a:solidFill>
            <a:srgbClr val="3A8A5E"/>
          </a:solidFill>
          <a:ln/>
        </p:spPr>
      </p:sp>
      <p:sp>
        <p:nvSpPr>
          <p:cNvPr id="25" name="Text 23"/>
          <p:cNvSpPr/>
          <p:nvPr/>
        </p:nvSpPr>
        <p:spPr>
          <a:xfrm>
            <a:off x="6309360" y="3108960"/>
            <a:ext cx="2194560" cy="320040"/>
          </a:xfrm>
          <a:prstGeom prst="rect">
            <a:avLst/>
          </a:prstGeom>
          <a:noFill/>
          <a:ln/>
        </p:spPr>
        <p:txBody>
          <a:bodyPr wrap="square" lIns="0" tIns="0" rIns="0" bIns="0" rtlCol="0" anchor="ctr"/>
          <a:lstStyle/>
          <a:p>
            <a:pPr indent="0" marL="0">
              <a:buNone/>
            </a:pPr>
            <a:r>
              <a:rPr lang="en-US" sz="1600" b="1" dirty="0">
                <a:solidFill>
                  <a:srgbClr val="2C3530"/>
                </a:solidFill>
                <a:latin typeface="Georgia" pitchFamily="34" charset="0"/>
                <a:ea typeface="Georgia" pitchFamily="34" charset="-122"/>
                <a:cs typeface="Georgia" pitchFamily="34" charset="-120"/>
              </a:rPr>
              <a:t>Cosmos DB</a:t>
            </a:r>
            <a:endParaRPr lang="en-US" sz="1600" dirty="0"/>
          </a:p>
        </p:txBody>
      </p:sp>
      <p:sp>
        <p:nvSpPr>
          <p:cNvPr id="26" name="Text 24"/>
          <p:cNvSpPr/>
          <p:nvPr/>
        </p:nvSpPr>
        <p:spPr>
          <a:xfrm>
            <a:off x="6309360" y="3474720"/>
            <a:ext cx="2194560" cy="457200"/>
          </a:xfrm>
          <a:prstGeom prst="rect">
            <a:avLst/>
          </a:prstGeom>
          <a:noFill/>
          <a:ln/>
        </p:spPr>
        <p:txBody>
          <a:bodyPr wrap="square" lIns="0" tIns="0" rIns="0" bIns="0" rtlCol="0" anchor="ctr"/>
          <a:lstStyle/>
          <a:p>
            <a:pPr indent="0" marL="0">
              <a:buNone/>
            </a:pPr>
            <a:r>
              <a:rPr lang="en-US" sz="1200" dirty="0">
                <a:solidFill>
                  <a:srgbClr val="5F7A6F"/>
                </a:solidFill>
                <a:latin typeface="Calibri" pitchFamily="34" charset="0"/>
                <a:ea typeface="Calibri" pitchFamily="34" charset="-122"/>
                <a:cs typeface="Calibri" pitchFamily="34" charset="-120"/>
              </a:rPr>
              <a:t>Profiles + progress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F24"/>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One Coach, Any Job</a:t>
            </a:r>
            <a:endParaRPr lang="en-US" sz="3200" dirty="0"/>
          </a:p>
        </p:txBody>
      </p:sp>
      <p:sp>
        <p:nvSpPr>
          <p:cNvPr id="3" name="Text 1"/>
          <p:cNvSpPr/>
          <p:nvPr/>
        </p:nvSpPr>
        <p:spPr>
          <a:xfrm>
            <a:off x="548640" y="914400"/>
            <a:ext cx="7315200" cy="365760"/>
          </a:xfrm>
          <a:prstGeom prst="rect">
            <a:avLst/>
          </a:prstGeom>
          <a:noFill/>
          <a:ln/>
        </p:spPr>
        <p:txBody>
          <a:bodyPr wrap="square" lIns="0" tIns="0" rIns="0" bIns="0" rtlCol="0" anchor="ctr"/>
          <a:lstStyle/>
          <a:p>
            <a:pPr indent="0" marL="0">
              <a:buNone/>
            </a:pPr>
            <a:r>
              <a:rPr lang="en-US" sz="1600" dirty="0">
                <a:solidFill>
                  <a:srgbClr val="E4F0EC"/>
                </a:solidFill>
                <a:latin typeface="Calibri" pitchFamily="34" charset="0"/>
                <a:ea typeface="Calibri" pitchFamily="34" charset="-122"/>
                <a:cs typeface="Calibri" pitchFamily="34" charset="-120"/>
              </a:rPr>
              <a:t>BuddyWork is a plug-in system. Load any task, any industry.</a:t>
            </a:r>
            <a:endParaRPr lang="en-US" sz="1600" dirty="0"/>
          </a:p>
        </p:txBody>
      </p:sp>
      <p:sp>
        <p:nvSpPr>
          <p:cNvPr id="4" name="Shape 2"/>
          <p:cNvSpPr/>
          <p:nvPr/>
        </p:nvSpPr>
        <p:spPr>
          <a:xfrm>
            <a:off x="548640" y="1554480"/>
            <a:ext cx="2560320" cy="1188720"/>
          </a:xfrm>
          <a:prstGeom prst="rect">
            <a:avLst/>
          </a:prstGeom>
          <a:solidFill>
            <a:srgbClr val="2D5E4B"/>
          </a:solidFill>
          <a:ln/>
        </p:spPr>
      </p:sp>
      <p:sp>
        <p:nvSpPr>
          <p:cNvPr id="5" name="Text 3"/>
          <p:cNvSpPr/>
          <p:nvPr/>
        </p:nvSpPr>
        <p:spPr>
          <a:xfrm>
            <a:off x="731520" y="169164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Library</a:t>
            </a:r>
            <a:endParaRPr lang="en-US" sz="1600" dirty="0"/>
          </a:p>
        </p:txBody>
      </p:sp>
      <p:sp>
        <p:nvSpPr>
          <p:cNvPr id="6" name="Text 4"/>
          <p:cNvSpPr/>
          <p:nvPr/>
        </p:nvSpPr>
        <p:spPr>
          <a:xfrm>
            <a:off x="731520" y="2103120"/>
            <a:ext cx="2194560" cy="457200"/>
          </a:xfrm>
          <a:prstGeom prst="rect">
            <a:avLst/>
          </a:prstGeom>
          <a:noFill/>
          <a:ln/>
        </p:spPr>
        <p:txBody>
          <a:bodyPr wrap="square" lIns="0" tIns="0" rIns="0" bIns="0" rtlCol="0" anchor="ctr"/>
          <a:lstStyle/>
          <a:p>
            <a:pPr indent="0" marL="0">
              <a:buNone/>
            </a:pPr>
            <a:r>
              <a:rPr lang="en-US" sz="1200" dirty="0">
                <a:solidFill>
                  <a:srgbClr val="E4F0EC"/>
                </a:solidFill>
                <a:latin typeface="Calibri" pitchFamily="34" charset="0"/>
                <a:ea typeface="Calibri" pitchFamily="34" charset="-122"/>
                <a:cs typeface="Calibri" pitchFamily="34" charset="-120"/>
              </a:rPr>
              <a:t>Shelving, cataloging, holds</a:t>
            </a:r>
            <a:endParaRPr lang="en-US" sz="1200" dirty="0"/>
          </a:p>
        </p:txBody>
      </p:sp>
      <p:sp>
        <p:nvSpPr>
          <p:cNvPr id="7" name="Shape 5"/>
          <p:cNvSpPr/>
          <p:nvPr/>
        </p:nvSpPr>
        <p:spPr>
          <a:xfrm>
            <a:off x="3337560" y="1554480"/>
            <a:ext cx="2560320" cy="1188720"/>
          </a:xfrm>
          <a:prstGeom prst="rect">
            <a:avLst/>
          </a:prstGeom>
          <a:solidFill>
            <a:srgbClr val="2D5E4B"/>
          </a:solidFill>
          <a:ln/>
        </p:spPr>
      </p:sp>
      <p:sp>
        <p:nvSpPr>
          <p:cNvPr id="8" name="Text 6"/>
          <p:cNvSpPr/>
          <p:nvPr/>
        </p:nvSpPr>
        <p:spPr>
          <a:xfrm>
            <a:off x="3520440" y="169164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Retail</a:t>
            </a:r>
            <a:endParaRPr lang="en-US" sz="1600" dirty="0"/>
          </a:p>
        </p:txBody>
      </p:sp>
      <p:sp>
        <p:nvSpPr>
          <p:cNvPr id="9" name="Text 7"/>
          <p:cNvSpPr/>
          <p:nvPr/>
        </p:nvSpPr>
        <p:spPr>
          <a:xfrm>
            <a:off x="3520440" y="2103120"/>
            <a:ext cx="2194560" cy="457200"/>
          </a:xfrm>
          <a:prstGeom prst="rect">
            <a:avLst/>
          </a:prstGeom>
          <a:noFill/>
          <a:ln/>
        </p:spPr>
        <p:txBody>
          <a:bodyPr wrap="square" lIns="0" tIns="0" rIns="0" bIns="0" rtlCol="0" anchor="ctr"/>
          <a:lstStyle/>
          <a:p>
            <a:pPr indent="0" marL="0">
              <a:buNone/>
            </a:pPr>
            <a:r>
              <a:rPr lang="en-US" sz="1200" dirty="0">
                <a:solidFill>
                  <a:srgbClr val="E4F0EC"/>
                </a:solidFill>
                <a:latin typeface="Calibri" pitchFamily="34" charset="0"/>
                <a:ea typeface="Calibri" pitchFamily="34" charset="-122"/>
                <a:cs typeface="Calibri" pitchFamily="34" charset="-120"/>
              </a:rPr>
              <a:t>Stocking, pricing, closing</a:t>
            </a:r>
            <a:endParaRPr lang="en-US" sz="1200" dirty="0"/>
          </a:p>
        </p:txBody>
      </p:sp>
      <p:sp>
        <p:nvSpPr>
          <p:cNvPr id="10" name="Shape 8"/>
          <p:cNvSpPr/>
          <p:nvPr/>
        </p:nvSpPr>
        <p:spPr>
          <a:xfrm>
            <a:off x="6126480" y="1554480"/>
            <a:ext cx="2560320" cy="1188720"/>
          </a:xfrm>
          <a:prstGeom prst="rect">
            <a:avLst/>
          </a:prstGeom>
          <a:solidFill>
            <a:srgbClr val="2D5E4B"/>
          </a:solidFill>
          <a:ln/>
        </p:spPr>
      </p:sp>
      <p:sp>
        <p:nvSpPr>
          <p:cNvPr id="11" name="Text 9"/>
          <p:cNvSpPr/>
          <p:nvPr/>
        </p:nvSpPr>
        <p:spPr>
          <a:xfrm>
            <a:off x="6309360" y="169164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Warehouse</a:t>
            </a:r>
            <a:endParaRPr lang="en-US" sz="1600" dirty="0"/>
          </a:p>
        </p:txBody>
      </p:sp>
      <p:sp>
        <p:nvSpPr>
          <p:cNvPr id="12" name="Text 10"/>
          <p:cNvSpPr/>
          <p:nvPr/>
        </p:nvSpPr>
        <p:spPr>
          <a:xfrm>
            <a:off x="6309360" y="2103120"/>
            <a:ext cx="2194560" cy="457200"/>
          </a:xfrm>
          <a:prstGeom prst="rect">
            <a:avLst/>
          </a:prstGeom>
          <a:noFill/>
          <a:ln/>
        </p:spPr>
        <p:txBody>
          <a:bodyPr wrap="square" lIns="0" tIns="0" rIns="0" bIns="0" rtlCol="0" anchor="ctr"/>
          <a:lstStyle/>
          <a:p>
            <a:pPr indent="0" marL="0">
              <a:buNone/>
            </a:pPr>
            <a:r>
              <a:rPr lang="en-US" sz="1200" dirty="0">
                <a:solidFill>
                  <a:srgbClr val="E4F0EC"/>
                </a:solidFill>
                <a:latin typeface="Calibri" pitchFamily="34" charset="0"/>
                <a:ea typeface="Calibri" pitchFamily="34" charset="-122"/>
                <a:cs typeface="Calibri" pitchFamily="34" charset="-120"/>
              </a:rPr>
              <a:t>Pick/pack, inventory, loading</a:t>
            </a:r>
            <a:endParaRPr lang="en-US" sz="1200" dirty="0"/>
          </a:p>
        </p:txBody>
      </p:sp>
      <p:sp>
        <p:nvSpPr>
          <p:cNvPr id="13" name="Shape 11"/>
          <p:cNvSpPr/>
          <p:nvPr/>
        </p:nvSpPr>
        <p:spPr>
          <a:xfrm>
            <a:off x="548640" y="3017520"/>
            <a:ext cx="2560320" cy="1188720"/>
          </a:xfrm>
          <a:prstGeom prst="rect">
            <a:avLst/>
          </a:prstGeom>
          <a:solidFill>
            <a:srgbClr val="2D5E4B"/>
          </a:solidFill>
          <a:ln/>
        </p:spPr>
      </p:sp>
      <p:sp>
        <p:nvSpPr>
          <p:cNvPr id="14" name="Text 12"/>
          <p:cNvSpPr/>
          <p:nvPr/>
        </p:nvSpPr>
        <p:spPr>
          <a:xfrm>
            <a:off x="731520" y="315468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Food Service</a:t>
            </a:r>
            <a:endParaRPr lang="en-US" sz="1600" dirty="0"/>
          </a:p>
        </p:txBody>
      </p:sp>
      <p:sp>
        <p:nvSpPr>
          <p:cNvPr id="15" name="Text 13"/>
          <p:cNvSpPr/>
          <p:nvPr/>
        </p:nvSpPr>
        <p:spPr>
          <a:xfrm>
            <a:off x="731520" y="3566160"/>
            <a:ext cx="2194560" cy="457200"/>
          </a:xfrm>
          <a:prstGeom prst="rect">
            <a:avLst/>
          </a:prstGeom>
          <a:noFill/>
          <a:ln/>
        </p:spPr>
        <p:txBody>
          <a:bodyPr wrap="square" lIns="0" tIns="0" rIns="0" bIns="0" rtlCol="0" anchor="ctr"/>
          <a:lstStyle/>
          <a:p>
            <a:pPr indent="0" marL="0">
              <a:buNone/>
            </a:pPr>
            <a:r>
              <a:rPr lang="en-US" sz="1200" dirty="0">
                <a:solidFill>
                  <a:srgbClr val="E4F0EC"/>
                </a:solidFill>
                <a:latin typeface="Calibri" pitchFamily="34" charset="0"/>
                <a:ea typeface="Calibri" pitchFamily="34" charset="-122"/>
                <a:cs typeface="Calibri" pitchFamily="34" charset="-120"/>
              </a:rPr>
              <a:t>Prep, cleaning, restocking</a:t>
            </a:r>
            <a:endParaRPr lang="en-US" sz="1200" dirty="0"/>
          </a:p>
        </p:txBody>
      </p:sp>
      <p:sp>
        <p:nvSpPr>
          <p:cNvPr id="16" name="Shape 14"/>
          <p:cNvSpPr/>
          <p:nvPr/>
        </p:nvSpPr>
        <p:spPr>
          <a:xfrm>
            <a:off x="3337560" y="3017520"/>
            <a:ext cx="2560320" cy="1188720"/>
          </a:xfrm>
          <a:prstGeom prst="rect">
            <a:avLst/>
          </a:prstGeom>
          <a:solidFill>
            <a:srgbClr val="2D5E4B"/>
          </a:solidFill>
          <a:ln/>
        </p:spPr>
      </p:sp>
      <p:sp>
        <p:nvSpPr>
          <p:cNvPr id="17" name="Text 15"/>
          <p:cNvSpPr/>
          <p:nvPr/>
        </p:nvSpPr>
        <p:spPr>
          <a:xfrm>
            <a:off x="3520440" y="315468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Office</a:t>
            </a:r>
            <a:endParaRPr lang="en-US" sz="1600" dirty="0"/>
          </a:p>
        </p:txBody>
      </p:sp>
      <p:sp>
        <p:nvSpPr>
          <p:cNvPr id="18" name="Text 16"/>
          <p:cNvSpPr/>
          <p:nvPr/>
        </p:nvSpPr>
        <p:spPr>
          <a:xfrm>
            <a:off x="3520440" y="3566160"/>
            <a:ext cx="2194560" cy="457200"/>
          </a:xfrm>
          <a:prstGeom prst="rect">
            <a:avLst/>
          </a:prstGeom>
          <a:noFill/>
          <a:ln/>
        </p:spPr>
        <p:txBody>
          <a:bodyPr wrap="square" lIns="0" tIns="0" rIns="0" bIns="0" rtlCol="0" anchor="ctr"/>
          <a:lstStyle/>
          <a:p>
            <a:pPr indent="0" marL="0">
              <a:buNone/>
            </a:pPr>
            <a:r>
              <a:rPr lang="en-US" sz="1200" dirty="0">
                <a:solidFill>
                  <a:srgbClr val="E4F0EC"/>
                </a:solidFill>
                <a:latin typeface="Calibri" pitchFamily="34" charset="0"/>
                <a:ea typeface="Calibri" pitchFamily="34" charset="-122"/>
                <a:cs typeface="Calibri" pitchFamily="34" charset="-120"/>
              </a:rPr>
              <a:t>Mail, supplies, room setup</a:t>
            </a:r>
            <a:endParaRPr lang="en-US" sz="1200" dirty="0"/>
          </a:p>
        </p:txBody>
      </p:sp>
      <p:sp>
        <p:nvSpPr>
          <p:cNvPr id="19" name="Shape 17"/>
          <p:cNvSpPr/>
          <p:nvPr/>
        </p:nvSpPr>
        <p:spPr>
          <a:xfrm>
            <a:off x="6126480" y="3017520"/>
            <a:ext cx="2560320" cy="1188720"/>
          </a:xfrm>
          <a:prstGeom prst="rect">
            <a:avLst/>
          </a:prstGeom>
          <a:solidFill>
            <a:srgbClr val="2D5E4B"/>
          </a:solidFill>
          <a:ln/>
        </p:spPr>
      </p:sp>
      <p:sp>
        <p:nvSpPr>
          <p:cNvPr id="20" name="Text 18"/>
          <p:cNvSpPr/>
          <p:nvPr/>
        </p:nvSpPr>
        <p:spPr>
          <a:xfrm>
            <a:off x="6309360" y="3154680"/>
            <a:ext cx="2194560" cy="32004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Agriculture</a:t>
            </a:r>
            <a:endParaRPr lang="en-US" sz="1600" dirty="0"/>
          </a:p>
        </p:txBody>
      </p:sp>
      <p:sp>
        <p:nvSpPr>
          <p:cNvPr id="21" name="Text 19"/>
          <p:cNvSpPr/>
          <p:nvPr/>
        </p:nvSpPr>
        <p:spPr>
          <a:xfrm>
            <a:off x="6309360" y="3566160"/>
            <a:ext cx="2194560" cy="457200"/>
          </a:xfrm>
          <a:prstGeom prst="rect">
            <a:avLst/>
          </a:prstGeom>
          <a:noFill/>
          <a:ln/>
        </p:spPr>
        <p:txBody>
          <a:bodyPr wrap="square" lIns="0" tIns="0" rIns="0" bIns="0" rtlCol="0" anchor="ctr"/>
          <a:lstStyle/>
          <a:p>
            <a:pPr indent="0" marL="0">
              <a:buNone/>
            </a:pPr>
            <a:r>
              <a:rPr lang="en-US" sz="1200" dirty="0">
                <a:solidFill>
                  <a:srgbClr val="E4F0EC"/>
                </a:solidFill>
                <a:latin typeface="Calibri" pitchFamily="34" charset="0"/>
                <a:ea typeface="Calibri" pitchFamily="34" charset="-122"/>
                <a:cs typeface="Calibri" pitchFamily="34" charset="-120"/>
              </a:rPr>
              <a:t>Planting, harvesting, equipment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3200" b="1" dirty="0">
                <a:solidFill>
                  <a:srgbClr val="2C3530"/>
                </a:solidFill>
                <a:latin typeface="Georgia" pitchFamily="34" charset="0"/>
                <a:ea typeface="Georgia" pitchFamily="34" charset="-122"/>
                <a:cs typeface="Georgia" pitchFamily="34" charset="-120"/>
              </a:rPr>
              <a:t>Why This Matters</a:t>
            </a:r>
            <a:endParaRPr lang="en-US" sz="3200" dirty="0"/>
          </a:p>
        </p:txBody>
      </p:sp>
      <p:sp>
        <p:nvSpPr>
          <p:cNvPr id="3" name="Shape 1"/>
          <p:cNvSpPr/>
          <p:nvPr/>
        </p:nvSpPr>
        <p:spPr>
          <a:xfrm>
            <a:off x="548640" y="1280160"/>
            <a:ext cx="2560320" cy="2377440"/>
          </a:xfrm>
          <a:prstGeom prst="rect">
            <a:avLst/>
          </a:prstGeom>
          <a:solidFill>
            <a:srgbClr val="E4F0EC"/>
          </a:solidFill>
          <a:ln/>
          <a:effectLst>
            <a:outerShdw sx="100000" sy="100000" kx="0" ky="0" algn="bl" rotWithShape="0" blurRad="101600" dist="38100" dir="8100000">
              <a:srgbClr val="000000">
                <a:alpha val="12000"/>
              </a:srgbClr>
            </a:outerShdw>
          </a:effectLst>
        </p:spPr>
      </p:sp>
      <p:sp>
        <p:nvSpPr>
          <p:cNvPr id="4" name="Text 2"/>
          <p:cNvSpPr/>
          <p:nvPr/>
        </p:nvSpPr>
        <p:spPr>
          <a:xfrm>
            <a:off x="548640" y="1463040"/>
            <a:ext cx="2560320" cy="731520"/>
          </a:xfrm>
          <a:prstGeom prst="rect">
            <a:avLst/>
          </a:prstGeom>
          <a:noFill/>
          <a:ln/>
        </p:spPr>
        <p:txBody>
          <a:bodyPr wrap="square" lIns="0" tIns="0" rIns="0" bIns="0" rtlCol="0" anchor="ctr"/>
          <a:lstStyle/>
          <a:p>
            <a:pPr algn="ctr" indent="0" marL="0">
              <a:buNone/>
            </a:pPr>
            <a:r>
              <a:rPr lang="en-US" sz="4400" b="1" dirty="0">
                <a:solidFill>
                  <a:srgbClr val="2D5E4B"/>
                </a:solidFill>
                <a:latin typeface="Georgia" pitchFamily="34" charset="0"/>
                <a:ea typeface="Georgia" pitchFamily="34" charset="-122"/>
                <a:cs typeface="Georgia" pitchFamily="34" charset="-120"/>
              </a:rPr>
              <a:t>5.4M</a:t>
            </a:r>
            <a:endParaRPr lang="en-US" sz="4400" dirty="0"/>
          </a:p>
        </p:txBody>
      </p:sp>
      <p:sp>
        <p:nvSpPr>
          <p:cNvPr id="5" name="Text 3"/>
          <p:cNvSpPr/>
          <p:nvPr/>
        </p:nvSpPr>
        <p:spPr>
          <a:xfrm>
            <a:off x="731520" y="2286000"/>
            <a:ext cx="2194560" cy="411480"/>
          </a:xfrm>
          <a:prstGeom prst="rect">
            <a:avLst/>
          </a:prstGeom>
          <a:noFill/>
          <a:ln/>
        </p:spPr>
        <p:txBody>
          <a:bodyPr wrap="square" lIns="0" tIns="0" rIns="0" bIns="0" rtlCol="0" anchor="ctr"/>
          <a:lstStyle/>
          <a:p>
            <a:pPr algn="ctr" indent="0" marL="0">
              <a:buNone/>
            </a:pPr>
            <a:r>
              <a:rPr lang="en-US" sz="1300" b="1" dirty="0">
                <a:solidFill>
                  <a:srgbClr val="2C3530"/>
                </a:solidFill>
                <a:latin typeface="Calibri" pitchFamily="34" charset="0"/>
                <a:ea typeface="Calibri" pitchFamily="34" charset="-122"/>
                <a:cs typeface="Calibri" pitchFamily="34" charset="-120"/>
              </a:rPr>
              <a:t>autistic adults in the US</a:t>
            </a:r>
            <a:endParaRPr lang="en-US" sz="1300" dirty="0"/>
          </a:p>
        </p:txBody>
      </p:sp>
      <p:sp>
        <p:nvSpPr>
          <p:cNvPr id="6" name="Text 4"/>
          <p:cNvSpPr/>
          <p:nvPr/>
        </p:nvSpPr>
        <p:spPr>
          <a:xfrm>
            <a:off x="731520" y="2743200"/>
            <a:ext cx="2194560" cy="548640"/>
          </a:xfrm>
          <a:prstGeom prst="rect">
            <a:avLst/>
          </a:prstGeom>
          <a:noFill/>
          <a:ln/>
        </p:spPr>
        <p:txBody>
          <a:bodyPr wrap="square" lIns="0" tIns="0" rIns="0" bIns="0" rtlCol="0" anchor="ctr"/>
          <a:lstStyle/>
          <a:p>
            <a:pPr algn="ctr" indent="0" marL="0">
              <a:buNone/>
            </a:pPr>
            <a:r>
              <a:rPr lang="en-US" sz="1100" dirty="0">
                <a:solidFill>
                  <a:srgbClr val="5F7A6F"/>
                </a:solidFill>
                <a:latin typeface="Calibri" pitchFamily="34" charset="0"/>
                <a:ea typeface="Calibri" pitchFamily="34" charset="-122"/>
                <a:cs typeface="Calibri" pitchFamily="34" charset="-120"/>
              </a:rPr>
              <a:t>Most underemployed relative to ability</a:t>
            </a:r>
            <a:endParaRPr lang="en-US" sz="1100" dirty="0"/>
          </a:p>
        </p:txBody>
      </p:sp>
      <p:sp>
        <p:nvSpPr>
          <p:cNvPr id="7" name="Shape 5"/>
          <p:cNvSpPr/>
          <p:nvPr/>
        </p:nvSpPr>
        <p:spPr>
          <a:xfrm>
            <a:off x="3337560" y="1280160"/>
            <a:ext cx="2560320" cy="2377440"/>
          </a:xfrm>
          <a:prstGeom prst="rect">
            <a:avLst/>
          </a:prstGeom>
          <a:solidFill>
            <a:srgbClr val="FFF6E5"/>
          </a:solidFill>
          <a:ln/>
          <a:effectLst>
            <a:outerShdw sx="100000" sy="100000" kx="0" ky="0" algn="bl" rotWithShape="0" blurRad="101600" dist="38100" dir="8100000">
              <a:srgbClr val="000000">
                <a:alpha val="12000"/>
              </a:srgbClr>
            </a:outerShdw>
          </a:effectLst>
        </p:spPr>
      </p:sp>
      <p:sp>
        <p:nvSpPr>
          <p:cNvPr id="8" name="Text 6"/>
          <p:cNvSpPr/>
          <p:nvPr/>
        </p:nvSpPr>
        <p:spPr>
          <a:xfrm>
            <a:off x="3337560" y="1463040"/>
            <a:ext cx="2560320" cy="731520"/>
          </a:xfrm>
          <a:prstGeom prst="rect">
            <a:avLst/>
          </a:prstGeom>
          <a:noFill/>
          <a:ln/>
        </p:spPr>
        <p:txBody>
          <a:bodyPr wrap="square" lIns="0" tIns="0" rIns="0" bIns="0" rtlCol="0" anchor="ctr"/>
          <a:lstStyle/>
          <a:p>
            <a:pPr algn="ctr" indent="0" marL="0">
              <a:buNone/>
            </a:pPr>
            <a:r>
              <a:rPr lang="en-US" sz="4400" b="1" dirty="0">
                <a:solidFill>
                  <a:srgbClr val="CC8B1F"/>
                </a:solidFill>
                <a:latin typeface="Georgia" pitchFamily="34" charset="0"/>
                <a:ea typeface="Georgia" pitchFamily="34" charset="-122"/>
                <a:cs typeface="Georgia" pitchFamily="34" charset="-120"/>
              </a:rPr>
              <a:t>$7K</a:t>
            </a:r>
            <a:endParaRPr lang="en-US" sz="4400" dirty="0"/>
          </a:p>
        </p:txBody>
      </p:sp>
      <p:sp>
        <p:nvSpPr>
          <p:cNvPr id="9" name="Text 7"/>
          <p:cNvSpPr/>
          <p:nvPr/>
        </p:nvSpPr>
        <p:spPr>
          <a:xfrm>
            <a:off x="3520440" y="2286000"/>
            <a:ext cx="2194560" cy="411480"/>
          </a:xfrm>
          <a:prstGeom prst="rect">
            <a:avLst/>
          </a:prstGeom>
          <a:noFill/>
          <a:ln/>
        </p:spPr>
        <p:txBody>
          <a:bodyPr wrap="square" lIns="0" tIns="0" rIns="0" bIns="0" rtlCol="0" anchor="ctr"/>
          <a:lstStyle/>
          <a:p>
            <a:pPr algn="ctr" indent="0" marL="0">
              <a:buNone/>
            </a:pPr>
            <a:r>
              <a:rPr lang="en-US" sz="1300" b="1" dirty="0">
                <a:solidFill>
                  <a:srgbClr val="2C3530"/>
                </a:solidFill>
                <a:latin typeface="Calibri" pitchFamily="34" charset="0"/>
                <a:ea typeface="Calibri" pitchFamily="34" charset="-122"/>
                <a:cs typeface="Calibri" pitchFamily="34" charset="-120"/>
              </a:rPr>
              <a:t>saved per supported employee/year</a:t>
            </a:r>
            <a:endParaRPr lang="en-US" sz="1300" dirty="0"/>
          </a:p>
        </p:txBody>
      </p:sp>
      <p:sp>
        <p:nvSpPr>
          <p:cNvPr id="10" name="Text 8"/>
          <p:cNvSpPr/>
          <p:nvPr/>
        </p:nvSpPr>
        <p:spPr>
          <a:xfrm>
            <a:off x="3520440" y="2743200"/>
            <a:ext cx="2194560" cy="548640"/>
          </a:xfrm>
          <a:prstGeom prst="rect">
            <a:avLst/>
          </a:prstGeom>
          <a:noFill/>
          <a:ln/>
        </p:spPr>
        <p:txBody>
          <a:bodyPr wrap="square" lIns="0" tIns="0" rIns="0" bIns="0" rtlCol="0" anchor="ctr"/>
          <a:lstStyle/>
          <a:p>
            <a:pPr algn="ctr" indent="0" marL="0">
              <a:buNone/>
            </a:pPr>
            <a:r>
              <a:rPr lang="en-US" sz="1100" dirty="0">
                <a:solidFill>
                  <a:srgbClr val="5F7A6F"/>
                </a:solidFill>
                <a:latin typeface="Calibri" pitchFamily="34" charset="0"/>
                <a:ea typeface="Calibri" pitchFamily="34" charset="-122"/>
                <a:cs typeface="Calibri" pitchFamily="34" charset="-120"/>
              </a:rPr>
              <a:t>Reduced turnover, fewer accommodations</a:t>
            </a:r>
            <a:endParaRPr lang="en-US" sz="1100" dirty="0"/>
          </a:p>
        </p:txBody>
      </p:sp>
      <p:sp>
        <p:nvSpPr>
          <p:cNvPr id="11" name="Shape 9"/>
          <p:cNvSpPr/>
          <p:nvPr/>
        </p:nvSpPr>
        <p:spPr>
          <a:xfrm>
            <a:off x="6126480" y="1280160"/>
            <a:ext cx="2560320" cy="2377440"/>
          </a:xfrm>
          <a:prstGeom prst="rect">
            <a:avLst/>
          </a:prstGeom>
          <a:solidFill>
            <a:srgbClr val="E4F0EC"/>
          </a:solidFill>
          <a:ln/>
          <a:effectLst>
            <a:outerShdw sx="100000" sy="100000" kx="0" ky="0" algn="bl" rotWithShape="0" blurRad="101600" dist="38100" dir="8100000">
              <a:srgbClr val="000000">
                <a:alpha val="12000"/>
              </a:srgbClr>
            </a:outerShdw>
          </a:effectLst>
        </p:spPr>
      </p:sp>
      <p:sp>
        <p:nvSpPr>
          <p:cNvPr id="12" name="Text 10"/>
          <p:cNvSpPr/>
          <p:nvPr/>
        </p:nvSpPr>
        <p:spPr>
          <a:xfrm>
            <a:off x="6126480" y="1463040"/>
            <a:ext cx="2560320" cy="731520"/>
          </a:xfrm>
          <a:prstGeom prst="rect">
            <a:avLst/>
          </a:prstGeom>
          <a:noFill/>
          <a:ln/>
        </p:spPr>
        <p:txBody>
          <a:bodyPr wrap="square" lIns="0" tIns="0" rIns="0" bIns="0" rtlCol="0" anchor="ctr"/>
          <a:lstStyle/>
          <a:p>
            <a:pPr algn="ctr" indent="0" marL="0">
              <a:buNone/>
            </a:pPr>
            <a:r>
              <a:rPr lang="en-US" sz="4400" b="1" dirty="0">
                <a:solidFill>
                  <a:srgbClr val="2D5E4B"/>
                </a:solidFill>
                <a:latin typeface="Georgia" pitchFamily="34" charset="0"/>
                <a:ea typeface="Georgia" pitchFamily="34" charset="-122"/>
                <a:cs typeface="Georgia" pitchFamily="34" charset="-120"/>
              </a:rPr>
              <a:t>40%</a:t>
            </a:r>
            <a:endParaRPr lang="en-US" sz="4400" dirty="0"/>
          </a:p>
        </p:txBody>
      </p:sp>
      <p:sp>
        <p:nvSpPr>
          <p:cNvPr id="13" name="Text 11"/>
          <p:cNvSpPr/>
          <p:nvPr/>
        </p:nvSpPr>
        <p:spPr>
          <a:xfrm>
            <a:off x="6309360" y="2286000"/>
            <a:ext cx="2194560" cy="411480"/>
          </a:xfrm>
          <a:prstGeom prst="rect">
            <a:avLst/>
          </a:prstGeom>
          <a:noFill/>
          <a:ln/>
        </p:spPr>
        <p:txBody>
          <a:bodyPr wrap="square" lIns="0" tIns="0" rIns="0" bIns="0" rtlCol="0" anchor="ctr"/>
          <a:lstStyle/>
          <a:p>
            <a:pPr algn="ctr" indent="0" marL="0">
              <a:buNone/>
            </a:pPr>
            <a:r>
              <a:rPr lang="en-US" sz="1300" b="1" dirty="0">
                <a:solidFill>
                  <a:srgbClr val="2C3530"/>
                </a:solidFill>
                <a:latin typeface="Calibri" pitchFamily="34" charset="0"/>
                <a:ea typeface="Calibri" pitchFamily="34" charset="-122"/>
                <a:cs typeface="Calibri" pitchFamily="34" charset="-120"/>
              </a:rPr>
              <a:t>productivity gain in structured roles</a:t>
            </a:r>
            <a:endParaRPr lang="en-US" sz="1300" dirty="0"/>
          </a:p>
        </p:txBody>
      </p:sp>
      <p:sp>
        <p:nvSpPr>
          <p:cNvPr id="14" name="Text 12"/>
          <p:cNvSpPr/>
          <p:nvPr/>
        </p:nvSpPr>
        <p:spPr>
          <a:xfrm>
            <a:off x="6309360" y="2743200"/>
            <a:ext cx="2194560" cy="548640"/>
          </a:xfrm>
          <a:prstGeom prst="rect">
            <a:avLst/>
          </a:prstGeom>
          <a:noFill/>
          <a:ln/>
        </p:spPr>
        <p:txBody>
          <a:bodyPr wrap="square" lIns="0" tIns="0" rIns="0" bIns="0" rtlCol="0" anchor="ctr"/>
          <a:lstStyle/>
          <a:p>
            <a:pPr algn="ctr" indent="0" marL="0">
              <a:buNone/>
            </a:pPr>
            <a:r>
              <a:rPr lang="en-US" sz="1100" dirty="0">
                <a:solidFill>
                  <a:srgbClr val="5F7A6F"/>
                </a:solidFill>
                <a:latin typeface="Calibri" pitchFamily="34" charset="0"/>
                <a:ea typeface="Calibri" pitchFamily="34" charset="-122"/>
                <a:cs typeface="Calibri" pitchFamily="34" charset="-120"/>
              </a:rPr>
              <a:t>When environment matches neurology</a:t>
            </a:r>
            <a:endParaRPr lang="en-US" sz="1100" dirty="0"/>
          </a:p>
        </p:txBody>
      </p:sp>
      <p:sp>
        <p:nvSpPr>
          <p:cNvPr id="15" name="Text 13"/>
          <p:cNvSpPr/>
          <p:nvPr/>
        </p:nvSpPr>
        <p:spPr>
          <a:xfrm>
            <a:off x="548640" y="4114800"/>
            <a:ext cx="8229600" cy="365760"/>
          </a:xfrm>
          <a:prstGeom prst="rect">
            <a:avLst/>
          </a:prstGeom>
          <a:noFill/>
          <a:ln/>
        </p:spPr>
        <p:txBody>
          <a:bodyPr wrap="square" lIns="0" tIns="0" rIns="0" bIns="0" rtlCol="0" anchor="ctr"/>
          <a:lstStyle/>
          <a:p>
            <a:pPr indent="0" marL="0">
              <a:buNone/>
            </a:pPr>
            <a:r>
              <a:rPr lang="en-US" sz="1600" b="1" i="1" dirty="0">
                <a:solidFill>
                  <a:srgbClr val="2D5E4B"/>
                </a:solidFill>
                <a:latin typeface="Georgia" pitchFamily="34" charset="0"/>
                <a:ea typeface="Georgia" pitchFamily="34" charset="-122"/>
                <a:cs typeface="Georgia" pitchFamily="34" charset="-120"/>
              </a:rPr>
              <a:t>AI handles the ambiguity. The person brings the expertise.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F24"/>
        </a:solidFill>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Our Team</a:t>
            </a:r>
            <a:endParaRPr lang="en-US" sz="3200" dirty="0"/>
          </a:p>
        </p:txBody>
      </p:sp>
      <p:sp>
        <p:nvSpPr>
          <p:cNvPr id="3" name="Shape 1"/>
          <p:cNvSpPr/>
          <p:nvPr/>
        </p:nvSpPr>
        <p:spPr>
          <a:xfrm>
            <a:off x="548640" y="1005840"/>
            <a:ext cx="1920240" cy="1005840"/>
          </a:xfrm>
          <a:prstGeom prst="roundRect">
            <a:avLst>
              <a:gd name="adj" fmla="val 13636"/>
            </a:avLst>
          </a:prstGeom>
          <a:solidFill>
            <a:srgbClr val="2D5E4B"/>
          </a:solidFill>
          <a:ln/>
        </p:spPr>
      </p:sp>
      <p:sp>
        <p:nvSpPr>
          <p:cNvPr id="4" name="Text 2"/>
          <p:cNvSpPr/>
          <p:nvPr/>
        </p:nvSpPr>
        <p:spPr>
          <a:xfrm>
            <a:off x="548640" y="114300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Cynthia</a:t>
            </a:r>
            <a:endParaRPr lang="en-US" sz="1500" dirty="0"/>
          </a:p>
        </p:txBody>
      </p:sp>
      <p:sp>
        <p:nvSpPr>
          <p:cNvPr id="5" name="Text 3"/>
          <p:cNvSpPr/>
          <p:nvPr/>
        </p:nvSpPr>
        <p:spPr>
          <a:xfrm>
            <a:off x="548640" y="150876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PM</a:t>
            </a:r>
            <a:endParaRPr lang="en-US" sz="1100" dirty="0"/>
          </a:p>
        </p:txBody>
      </p:sp>
      <p:sp>
        <p:nvSpPr>
          <p:cNvPr id="6" name="Shape 4"/>
          <p:cNvSpPr/>
          <p:nvPr/>
        </p:nvSpPr>
        <p:spPr>
          <a:xfrm>
            <a:off x="2697480" y="1005840"/>
            <a:ext cx="1920240" cy="1005840"/>
          </a:xfrm>
          <a:prstGeom prst="roundRect">
            <a:avLst>
              <a:gd name="adj" fmla="val 13636"/>
            </a:avLst>
          </a:prstGeom>
          <a:solidFill>
            <a:srgbClr val="2D5E4B"/>
          </a:solidFill>
          <a:ln/>
        </p:spPr>
      </p:sp>
      <p:sp>
        <p:nvSpPr>
          <p:cNvPr id="7" name="Text 5"/>
          <p:cNvSpPr/>
          <p:nvPr/>
        </p:nvSpPr>
        <p:spPr>
          <a:xfrm>
            <a:off x="2697480" y="114300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Mukti</a:t>
            </a:r>
            <a:endParaRPr lang="en-US" sz="1500" dirty="0"/>
          </a:p>
        </p:txBody>
      </p:sp>
      <p:sp>
        <p:nvSpPr>
          <p:cNvPr id="8" name="Text 6"/>
          <p:cNvSpPr/>
          <p:nvPr/>
        </p:nvSpPr>
        <p:spPr>
          <a:xfrm>
            <a:off x="2697480" y="150876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Frontend</a:t>
            </a:r>
            <a:endParaRPr lang="en-US" sz="1100" dirty="0"/>
          </a:p>
        </p:txBody>
      </p:sp>
      <p:sp>
        <p:nvSpPr>
          <p:cNvPr id="9" name="Shape 7"/>
          <p:cNvSpPr/>
          <p:nvPr/>
        </p:nvSpPr>
        <p:spPr>
          <a:xfrm>
            <a:off x="4846320" y="1005840"/>
            <a:ext cx="1920240" cy="1005840"/>
          </a:xfrm>
          <a:prstGeom prst="roundRect">
            <a:avLst>
              <a:gd name="adj" fmla="val 13636"/>
            </a:avLst>
          </a:prstGeom>
          <a:solidFill>
            <a:srgbClr val="2D5E4B"/>
          </a:solidFill>
          <a:ln/>
        </p:spPr>
      </p:sp>
      <p:sp>
        <p:nvSpPr>
          <p:cNvPr id="10" name="Text 8"/>
          <p:cNvSpPr/>
          <p:nvPr/>
        </p:nvSpPr>
        <p:spPr>
          <a:xfrm>
            <a:off x="4846320" y="114300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Anthony</a:t>
            </a:r>
            <a:endParaRPr lang="en-US" sz="1500" dirty="0"/>
          </a:p>
        </p:txBody>
      </p:sp>
      <p:sp>
        <p:nvSpPr>
          <p:cNvPr id="11" name="Text 9"/>
          <p:cNvSpPr/>
          <p:nvPr/>
        </p:nvSpPr>
        <p:spPr>
          <a:xfrm>
            <a:off x="4846320" y="150876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Unity/AR</a:t>
            </a:r>
            <a:endParaRPr lang="en-US" sz="1100" dirty="0"/>
          </a:p>
        </p:txBody>
      </p:sp>
      <p:sp>
        <p:nvSpPr>
          <p:cNvPr id="12" name="Shape 10"/>
          <p:cNvSpPr/>
          <p:nvPr/>
        </p:nvSpPr>
        <p:spPr>
          <a:xfrm>
            <a:off x="6995160" y="1005840"/>
            <a:ext cx="1920240" cy="1005840"/>
          </a:xfrm>
          <a:prstGeom prst="roundRect">
            <a:avLst>
              <a:gd name="adj" fmla="val 13636"/>
            </a:avLst>
          </a:prstGeom>
          <a:solidFill>
            <a:srgbClr val="2D5E4B"/>
          </a:solidFill>
          <a:ln/>
        </p:spPr>
      </p:sp>
      <p:sp>
        <p:nvSpPr>
          <p:cNvPr id="13" name="Text 11"/>
          <p:cNvSpPr/>
          <p:nvPr/>
        </p:nvSpPr>
        <p:spPr>
          <a:xfrm>
            <a:off x="6995160" y="114300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Gauransh</a:t>
            </a:r>
            <a:endParaRPr lang="en-US" sz="1500" dirty="0"/>
          </a:p>
        </p:txBody>
      </p:sp>
      <p:sp>
        <p:nvSpPr>
          <p:cNvPr id="14" name="Text 12"/>
          <p:cNvSpPr/>
          <p:nvPr/>
        </p:nvSpPr>
        <p:spPr>
          <a:xfrm>
            <a:off x="6995160" y="150876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Backend</a:t>
            </a:r>
            <a:endParaRPr lang="en-US" sz="1100" dirty="0"/>
          </a:p>
        </p:txBody>
      </p:sp>
      <p:sp>
        <p:nvSpPr>
          <p:cNvPr id="15" name="Shape 13"/>
          <p:cNvSpPr/>
          <p:nvPr/>
        </p:nvSpPr>
        <p:spPr>
          <a:xfrm>
            <a:off x="548640" y="2286000"/>
            <a:ext cx="1920240" cy="1005840"/>
          </a:xfrm>
          <a:prstGeom prst="roundRect">
            <a:avLst>
              <a:gd name="adj" fmla="val 13636"/>
            </a:avLst>
          </a:prstGeom>
          <a:solidFill>
            <a:srgbClr val="2D5E4B"/>
          </a:solidFill>
          <a:ln/>
        </p:spPr>
      </p:sp>
      <p:sp>
        <p:nvSpPr>
          <p:cNvPr id="16" name="Text 14"/>
          <p:cNvSpPr/>
          <p:nvPr/>
        </p:nvSpPr>
        <p:spPr>
          <a:xfrm>
            <a:off x="548640" y="242316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Shyameati</a:t>
            </a:r>
            <a:endParaRPr lang="en-US" sz="1500" dirty="0"/>
          </a:p>
        </p:txBody>
      </p:sp>
      <p:sp>
        <p:nvSpPr>
          <p:cNvPr id="17" name="Text 15"/>
          <p:cNvSpPr/>
          <p:nvPr/>
        </p:nvSpPr>
        <p:spPr>
          <a:xfrm>
            <a:off x="548640" y="278892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AI/Vision</a:t>
            </a:r>
            <a:endParaRPr lang="en-US" sz="1100" dirty="0"/>
          </a:p>
        </p:txBody>
      </p:sp>
      <p:sp>
        <p:nvSpPr>
          <p:cNvPr id="18" name="Shape 16"/>
          <p:cNvSpPr/>
          <p:nvPr/>
        </p:nvSpPr>
        <p:spPr>
          <a:xfrm>
            <a:off x="2697480" y="2286000"/>
            <a:ext cx="1920240" cy="1005840"/>
          </a:xfrm>
          <a:prstGeom prst="roundRect">
            <a:avLst>
              <a:gd name="adj" fmla="val 13636"/>
            </a:avLst>
          </a:prstGeom>
          <a:solidFill>
            <a:srgbClr val="2D5E4B"/>
          </a:solidFill>
          <a:ln/>
        </p:spPr>
      </p:sp>
      <p:sp>
        <p:nvSpPr>
          <p:cNvPr id="19" name="Text 17"/>
          <p:cNvSpPr/>
          <p:nvPr/>
        </p:nvSpPr>
        <p:spPr>
          <a:xfrm>
            <a:off x="2697480" y="242316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Joe</a:t>
            </a:r>
            <a:endParaRPr lang="en-US" sz="1500" dirty="0"/>
          </a:p>
        </p:txBody>
      </p:sp>
      <p:sp>
        <p:nvSpPr>
          <p:cNvPr id="20" name="Text 18"/>
          <p:cNvSpPr/>
          <p:nvPr/>
        </p:nvSpPr>
        <p:spPr>
          <a:xfrm>
            <a:off x="2697480" y="278892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Azure/Infra</a:t>
            </a:r>
            <a:endParaRPr lang="en-US" sz="1100" dirty="0"/>
          </a:p>
        </p:txBody>
      </p:sp>
      <p:sp>
        <p:nvSpPr>
          <p:cNvPr id="21" name="Shape 19"/>
          <p:cNvSpPr/>
          <p:nvPr/>
        </p:nvSpPr>
        <p:spPr>
          <a:xfrm>
            <a:off x="4846320" y="2286000"/>
            <a:ext cx="1920240" cy="1005840"/>
          </a:xfrm>
          <a:prstGeom prst="roundRect">
            <a:avLst>
              <a:gd name="adj" fmla="val 13636"/>
            </a:avLst>
          </a:prstGeom>
          <a:solidFill>
            <a:srgbClr val="2D5E4B"/>
          </a:solidFill>
          <a:ln/>
        </p:spPr>
      </p:sp>
      <p:sp>
        <p:nvSpPr>
          <p:cNvPr id="22" name="Text 20"/>
          <p:cNvSpPr/>
          <p:nvPr/>
        </p:nvSpPr>
        <p:spPr>
          <a:xfrm>
            <a:off x="4846320" y="242316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Daniel</a:t>
            </a:r>
            <a:endParaRPr lang="en-US" sz="1500" dirty="0"/>
          </a:p>
        </p:txBody>
      </p:sp>
      <p:sp>
        <p:nvSpPr>
          <p:cNvPr id="23" name="Text 21"/>
          <p:cNvSpPr/>
          <p:nvPr/>
        </p:nvSpPr>
        <p:spPr>
          <a:xfrm>
            <a:off x="4846320" y="278892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Cloud SME</a:t>
            </a:r>
            <a:endParaRPr lang="en-US" sz="1100" dirty="0"/>
          </a:p>
        </p:txBody>
      </p:sp>
      <p:sp>
        <p:nvSpPr>
          <p:cNvPr id="24" name="Shape 22"/>
          <p:cNvSpPr/>
          <p:nvPr/>
        </p:nvSpPr>
        <p:spPr>
          <a:xfrm>
            <a:off x="6995160" y="2286000"/>
            <a:ext cx="1920240" cy="1005840"/>
          </a:xfrm>
          <a:prstGeom prst="roundRect">
            <a:avLst>
              <a:gd name="adj" fmla="val 13636"/>
            </a:avLst>
          </a:prstGeom>
          <a:solidFill>
            <a:srgbClr val="2D5E4B"/>
          </a:solidFill>
          <a:ln/>
        </p:spPr>
      </p:sp>
      <p:sp>
        <p:nvSpPr>
          <p:cNvPr id="25" name="Text 23"/>
          <p:cNvSpPr/>
          <p:nvPr/>
        </p:nvSpPr>
        <p:spPr>
          <a:xfrm>
            <a:off x="6995160" y="242316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Jimintamin</a:t>
            </a:r>
            <a:endParaRPr lang="en-US" sz="1500" dirty="0"/>
          </a:p>
        </p:txBody>
      </p:sp>
      <p:sp>
        <p:nvSpPr>
          <p:cNvPr id="26" name="Text 24"/>
          <p:cNvSpPr/>
          <p:nvPr/>
        </p:nvSpPr>
        <p:spPr>
          <a:xfrm>
            <a:off x="6995160" y="278892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Data</a:t>
            </a:r>
            <a:endParaRPr lang="en-US" sz="1100" dirty="0"/>
          </a:p>
        </p:txBody>
      </p:sp>
      <p:sp>
        <p:nvSpPr>
          <p:cNvPr id="27" name="Shape 25"/>
          <p:cNvSpPr/>
          <p:nvPr/>
        </p:nvSpPr>
        <p:spPr>
          <a:xfrm>
            <a:off x="548640" y="3566160"/>
            <a:ext cx="1920240" cy="1005840"/>
          </a:xfrm>
          <a:prstGeom prst="roundRect">
            <a:avLst>
              <a:gd name="adj" fmla="val 13636"/>
            </a:avLst>
          </a:prstGeom>
          <a:solidFill>
            <a:srgbClr val="2D5E4B"/>
          </a:solidFill>
          <a:ln/>
        </p:spPr>
      </p:sp>
      <p:sp>
        <p:nvSpPr>
          <p:cNvPr id="28" name="Text 26"/>
          <p:cNvSpPr/>
          <p:nvPr/>
        </p:nvSpPr>
        <p:spPr>
          <a:xfrm>
            <a:off x="548640" y="370332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Aysu</a:t>
            </a:r>
            <a:endParaRPr lang="en-US" sz="1500" dirty="0"/>
          </a:p>
        </p:txBody>
      </p:sp>
      <p:sp>
        <p:nvSpPr>
          <p:cNvPr id="29" name="Text 27"/>
          <p:cNvSpPr/>
          <p:nvPr/>
        </p:nvSpPr>
        <p:spPr>
          <a:xfrm>
            <a:off x="548640" y="406908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Design</a:t>
            </a:r>
            <a:endParaRPr lang="en-US" sz="1100" dirty="0"/>
          </a:p>
        </p:txBody>
      </p:sp>
      <p:sp>
        <p:nvSpPr>
          <p:cNvPr id="30" name="Shape 28"/>
          <p:cNvSpPr/>
          <p:nvPr/>
        </p:nvSpPr>
        <p:spPr>
          <a:xfrm>
            <a:off x="2697480" y="3566160"/>
            <a:ext cx="1920240" cy="1005840"/>
          </a:xfrm>
          <a:prstGeom prst="roundRect">
            <a:avLst>
              <a:gd name="adj" fmla="val 13636"/>
            </a:avLst>
          </a:prstGeom>
          <a:solidFill>
            <a:srgbClr val="2D5E4B"/>
          </a:solidFill>
          <a:ln/>
        </p:spPr>
      </p:sp>
      <p:sp>
        <p:nvSpPr>
          <p:cNvPr id="31" name="Text 29"/>
          <p:cNvSpPr/>
          <p:nvPr/>
        </p:nvSpPr>
        <p:spPr>
          <a:xfrm>
            <a:off x="2697480" y="370332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Lori</a:t>
            </a:r>
            <a:endParaRPr lang="en-US" sz="1500" dirty="0"/>
          </a:p>
        </p:txBody>
      </p:sp>
      <p:sp>
        <p:nvSpPr>
          <p:cNvPr id="32" name="Text 30"/>
          <p:cNvSpPr/>
          <p:nvPr/>
        </p:nvSpPr>
        <p:spPr>
          <a:xfrm>
            <a:off x="2697480" y="406908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Domain Expert</a:t>
            </a:r>
            <a:endParaRPr lang="en-US" sz="1100" dirty="0"/>
          </a:p>
        </p:txBody>
      </p:sp>
      <p:sp>
        <p:nvSpPr>
          <p:cNvPr id="33" name="Shape 31"/>
          <p:cNvSpPr/>
          <p:nvPr/>
        </p:nvSpPr>
        <p:spPr>
          <a:xfrm>
            <a:off x="4846320" y="3566160"/>
            <a:ext cx="1920240" cy="1005840"/>
          </a:xfrm>
          <a:prstGeom prst="roundRect">
            <a:avLst>
              <a:gd name="adj" fmla="val 13636"/>
            </a:avLst>
          </a:prstGeom>
          <a:solidFill>
            <a:srgbClr val="2D5E4B"/>
          </a:solidFill>
          <a:ln/>
        </p:spPr>
      </p:sp>
      <p:sp>
        <p:nvSpPr>
          <p:cNvPr id="34" name="Text 32"/>
          <p:cNvSpPr/>
          <p:nvPr/>
        </p:nvSpPr>
        <p:spPr>
          <a:xfrm>
            <a:off x="4846320" y="3703320"/>
            <a:ext cx="1920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Vikas</a:t>
            </a:r>
            <a:endParaRPr lang="en-US" sz="1500" dirty="0"/>
          </a:p>
        </p:txBody>
      </p:sp>
      <p:sp>
        <p:nvSpPr>
          <p:cNvPr id="35" name="Text 33"/>
          <p:cNvSpPr/>
          <p:nvPr/>
        </p:nvSpPr>
        <p:spPr>
          <a:xfrm>
            <a:off x="4846320" y="4069080"/>
            <a:ext cx="1920240" cy="320040"/>
          </a:xfrm>
          <a:prstGeom prst="rect">
            <a:avLst/>
          </a:prstGeom>
          <a:noFill/>
          <a:ln/>
        </p:spPr>
        <p:txBody>
          <a:bodyPr wrap="square" lIns="0" tIns="0" rIns="0" bIns="0" rtlCol="0" anchor="ctr"/>
          <a:lstStyle/>
          <a:p>
            <a:pPr algn="ctr" indent="0" marL="0">
              <a:buNone/>
            </a:pPr>
            <a:r>
              <a:rPr lang="en-US" sz="1100" dirty="0">
                <a:solidFill>
                  <a:srgbClr val="E4F0EC"/>
                </a:solidFill>
                <a:latin typeface="Calibri" pitchFamily="34" charset="0"/>
                <a:ea typeface="Calibri" pitchFamily="34" charset="-122"/>
                <a:cs typeface="Calibri" pitchFamily="34" charset="-120"/>
              </a:rPr>
              <a:t>Strategy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F24"/>
        </a:solidFill>
      </p:bgPr>
    </p:bg>
    <p:spTree>
      <p:nvGrpSpPr>
        <p:cNvPr id="1" name=""/>
        <p:cNvGrpSpPr/>
        <p:nvPr/>
      </p:nvGrpSpPr>
      <p:grpSpPr>
        <a:xfrm>
          <a:off x="0" y="0"/>
          <a:ext cx="0" cy="0"/>
          <a:chOff x="0" y="0"/>
          <a:chExt cx="0" cy="0"/>
        </a:xfrm>
      </p:grpSpPr>
      <p:sp>
        <p:nvSpPr>
          <p:cNvPr id="2" name="Shape 0"/>
          <p:cNvSpPr/>
          <p:nvPr/>
        </p:nvSpPr>
        <p:spPr>
          <a:xfrm>
            <a:off x="2286000" y="731520"/>
            <a:ext cx="4572000" cy="3657600"/>
          </a:xfrm>
          <a:prstGeom prst="roundRect">
            <a:avLst>
              <a:gd name="adj" fmla="val 7500"/>
            </a:avLst>
          </a:prstGeom>
          <a:solidFill>
            <a:srgbClr val="2D5E4B"/>
          </a:solidFill>
          <a:ln/>
        </p:spPr>
      </p:sp>
      <p:pic>
        <p:nvPicPr>
          <p:cNvPr id="3" name="Image 0" descr="preencoded.png">    </p:cNvPr>
          <p:cNvPicPr>
            <a:picLocks noChangeAspect="1"/>
          </p:cNvPicPr>
          <p:nvPr/>
        </p:nvPicPr>
        <p:blipFill>
          <a:blip r:embed="rId1"/>
          <a:stretch>
            <a:fillRect/>
          </a:stretch>
        </p:blipFill>
        <p:spPr>
          <a:xfrm>
            <a:off x="4206240" y="1097280"/>
            <a:ext cx="731520" cy="731520"/>
          </a:xfrm>
          <a:prstGeom prst="rect">
            <a:avLst/>
          </a:prstGeom>
        </p:spPr>
      </p:pic>
      <p:sp>
        <p:nvSpPr>
          <p:cNvPr id="4" name="Text 1"/>
          <p:cNvSpPr/>
          <p:nvPr/>
        </p:nvSpPr>
        <p:spPr>
          <a:xfrm>
            <a:off x="2286000" y="2011680"/>
            <a:ext cx="4572000" cy="1463040"/>
          </a:xfrm>
          <a:prstGeom prst="rect">
            <a:avLst/>
          </a:prstGeom>
          <a:noFill/>
          <a:ln/>
        </p:spPr>
        <p:txBody>
          <a:bodyPr wrap="square" lIns="0" tIns="0" rIns="0" bIns="0" rtlCol="0" anchor="ctr"/>
          <a:lstStyle/>
          <a:p>
            <a:pPr algn="ctr" indent="0" marL="0">
              <a:lnSpc>
                <a:spcPct val="150000"/>
              </a:lnSpc>
              <a:buNone/>
            </a:pPr>
            <a:r>
              <a:rPr lang="en-US" sz="2000" b="1" dirty="0">
                <a:solidFill>
                  <a:srgbClr val="FFFFFF"/>
                </a:solidFill>
                <a:latin typeface="Georgia" pitchFamily="34" charset="0"/>
                <a:ea typeface="Georgia" pitchFamily="34" charset="-122"/>
                <a:cs typeface="Georgia" pitchFamily="34" charset="-120"/>
              </a:rPr>
              <a:t>Patience is infinite.</a:t>
            </a:r>
            <a:endParaRPr lang="en-US" sz="2000" dirty="0"/>
          </a:p>
          <a:p>
            <a:pPr algn="ctr" indent="0" marL="0">
              <a:lnSpc>
                <a:spcPct val="150000"/>
              </a:lnSpc>
              <a:buNone/>
            </a:pPr>
            <a:r>
              <a:rPr lang="en-US" sz="2000" b="1" dirty="0">
                <a:solidFill>
                  <a:srgbClr val="FFFFFF"/>
                </a:solidFill>
                <a:latin typeface="Georgia" pitchFamily="34" charset="0"/>
                <a:ea typeface="Georgia" pitchFamily="34" charset="-122"/>
                <a:cs typeface="Georgia" pitchFamily="34" charset="-120"/>
              </a:rPr>
              <a:t>Guidance is clear.</a:t>
            </a:r>
            <a:endParaRPr lang="en-US" sz="2000" dirty="0"/>
          </a:p>
          <a:p>
            <a:pPr algn="ctr" indent="0" marL="0">
              <a:lnSpc>
                <a:spcPct val="150000"/>
              </a:lnSpc>
              <a:buNone/>
            </a:pPr>
            <a:r>
              <a:rPr lang="en-US" sz="2000" b="1" dirty="0">
                <a:solidFill>
                  <a:srgbClr val="FFFFFF"/>
                </a:solidFill>
                <a:latin typeface="Georgia" pitchFamily="34" charset="0"/>
                <a:ea typeface="Georgia" pitchFamily="34" charset="-122"/>
                <a:cs typeface="Georgia" pitchFamily="34" charset="-120"/>
              </a:rPr>
              <a:t>Every worker belongs.</a:t>
            </a:r>
            <a:endParaRPr lang="en-US" sz="2000" dirty="0"/>
          </a:p>
        </p:txBody>
      </p:sp>
      <p:sp>
        <p:nvSpPr>
          <p:cNvPr id="5" name="Text 2"/>
          <p:cNvSpPr/>
          <p:nvPr/>
        </p:nvSpPr>
        <p:spPr>
          <a:xfrm>
            <a:off x="2286000" y="3474720"/>
            <a:ext cx="4572000" cy="457200"/>
          </a:xfrm>
          <a:prstGeom prst="rect">
            <a:avLst/>
          </a:prstGeom>
          <a:noFill/>
          <a:ln/>
        </p:spPr>
        <p:txBody>
          <a:bodyPr wrap="square" lIns="0" tIns="0" rIns="0" bIns="0" rtlCol="0" anchor="ctr"/>
          <a:lstStyle/>
          <a:p>
            <a:pPr algn="ctr" indent="0" marL="0">
              <a:buNone/>
            </a:pPr>
            <a:r>
              <a:rPr lang="en-US" sz="2800" b="1" dirty="0">
                <a:solidFill>
                  <a:srgbClr val="E4F0EC"/>
                </a:solidFill>
                <a:latin typeface="Georgia" pitchFamily="34" charset="0"/>
                <a:ea typeface="Georgia" pitchFamily="34" charset="-122"/>
                <a:cs typeface="Georgia" pitchFamily="34" charset="-120"/>
              </a:rPr>
              <a:t>BuddyWork</a:t>
            </a:r>
            <a:endParaRPr lang="en-US" sz="2800" dirty="0"/>
          </a:p>
        </p:txBody>
      </p:sp>
      <p:sp>
        <p:nvSpPr>
          <p:cNvPr id="6" name="Text 3"/>
          <p:cNvSpPr/>
          <p:nvPr/>
        </p:nvSpPr>
        <p:spPr>
          <a:xfrm>
            <a:off x="457200" y="4572000"/>
            <a:ext cx="8229600" cy="274320"/>
          </a:xfrm>
          <a:prstGeom prst="rect">
            <a:avLst/>
          </a:prstGeom>
          <a:noFill/>
          <a:ln/>
        </p:spPr>
        <p:txBody>
          <a:bodyPr wrap="square" lIns="0" tIns="0" rIns="0" bIns="0" rtlCol="0" anchor="ctr"/>
          <a:lstStyle/>
          <a:p>
            <a:pPr algn="ctr" indent="0" marL="0">
              <a:buNone/>
            </a:pPr>
            <a:r>
              <a:rPr lang="en-US" sz="1200" dirty="0">
                <a:solidFill>
                  <a:srgbClr val="5F7A6F"/>
                </a:solidFill>
                <a:latin typeface="Calibri" pitchFamily="34" charset="0"/>
                <a:ea typeface="Calibri" pitchFamily="34" charset="-122"/>
                <a:cs typeface="Calibri" pitchFamily="34" charset="-120"/>
              </a:rPr>
              <a:t>buddywork.azurestaticapps.net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BuddyWork - AI Job Coach for Neurodivergent Workers</dc:title>
  <dc:subject>PptxGenJS Presentation</dc:subject>
  <dc:creator>BuddyWork Team</dc:creator>
  <cp:lastModifiedBy>BuddyWork Team</cp:lastModifiedBy>
  <cp:revision>1</cp:revision>
  <dcterms:created xsi:type="dcterms:W3CDTF">2026-05-20T18:43:00Z</dcterms:created>
  <dcterms:modified xsi:type="dcterms:W3CDTF">2026-05-20T18:43:00Z</dcterms:modified>
</cp:coreProperties>
</file>